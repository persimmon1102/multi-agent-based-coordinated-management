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C4D"/>
    <a:srgbClr val="ECD293"/>
    <a:srgbClr val="D79467"/>
    <a:srgbClr val="FBF6F2"/>
    <a:srgbClr val="F6B635"/>
    <a:srgbClr val="CF4358"/>
    <a:srgbClr val="0F6233"/>
    <a:srgbClr val="D69163"/>
    <a:srgbClr val="E4884E"/>
    <a:srgbClr val="C424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089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2AAE9-E740-4CDA-85A3-3D4208592DFE}" type="datetimeFigureOut">
              <a:rPr lang="zh-CN" altLang="en-US" smtClean="0"/>
              <a:t>2026/7/21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465F2-CE24-453D-AB6D-9D66D2D94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基于研究问题，提出研究目标。。。</a:t>
            </a:r>
          </a:p>
          <a:p>
            <a:endParaRPr/>
          </a:p>
          <a:p>
            <a:r>
              <a:t>根据三点研究目标，规划了以下三个研究内容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7AA5570-5C36-4F12-A1EB-4155A99A166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7AA5570-5C36-4F12-A1EB-4155A99A166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7AA5570-5C36-4F12-A1EB-4155A99A166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7AA5570-5C36-4F12-A1EB-4155A99A166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7AA5570-5C36-4F12-A1EB-4155A99A166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7AA5570-5C36-4F12-A1EB-4155A99A166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97AA5570-5C36-4F12-A1EB-4155A99A166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7AA5570-5C36-4F12-A1EB-4155A99A166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2725" y="2302510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7AA5570-5C36-4F12-A1EB-4155A99A1666}" type="slidenum">
              <a:rPr/>
              <a:t>‹#›</a:t>
            </a:fld>
            <a:endParaRPr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198689" y="275797"/>
            <a:ext cx="4769604" cy="810480"/>
            <a:chOff x="178348" y="71934"/>
            <a:chExt cx="4769604" cy="81048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348" y="71934"/>
              <a:ext cx="827191" cy="81048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1005539" y="292508"/>
              <a:ext cx="39424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方正小标宋简体" panose="02010601030101010101" pitchFamily="2" charset="-122"/>
                  <a:ea typeface="方正小标宋简体" panose="02010601030101010101" pitchFamily="2" charset="-122"/>
                  <a:cs typeface="微软雅黑" panose="020B0503020204020204" charset="-122"/>
                </a:rPr>
                <a:t>中国大学生计算机设计大赛</a:t>
              </a:r>
              <a:endParaRPr lang="zh-CN" altLang="en-US" dirty="0">
                <a:latin typeface="方正小标宋简体" panose="02010601030101010101" pitchFamily="2" charset="-122"/>
                <a:ea typeface="方正小标宋简体" panose="02010601030101010101" pitchFamily="2" charset="-122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 algn="ctr">
              <a:buNone/>
            </a:pP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endParaRPr sz="2000" b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448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 algn="ctr">
              <a:buNone/>
            </a:pP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设计思路</a:t>
            </a:r>
            <a:endParaRPr sz="2000" b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896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 algn="ctr">
              <a:buNone/>
            </a:pPr>
            <a:r>
              <a:rPr sz="20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endParaRPr sz="2000" b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344000" y="0"/>
            <a:ext cx="2448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 algn="ctr">
              <a:buNone/>
            </a:pP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核心技术</a:t>
            </a:r>
            <a:endParaRPr sz="2000" b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792000" y="0"/>
            <a:ext cx="2400000" cy="6543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anchor="ctr"/>
          <a:lstStyle/>
          <a:p>
            <a:pPr algn="ctr">
              <a:buNone/>
            </a:pP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功能价值</a:t>
            </a:r>
            <a:endParaRPr sz="2000" b="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灯片编号占位符 4"/>
          <p:cNvSpPr>
            <a:spLocks noGrp="1"/>
          </p:cNvSpPr>
          <p:nvPr>
            <p:ph type="sldNum" idx="12"/>
          </p:nvPr>
        </p:nvSpPr>
        <p:spPr>
          <a:xfrm>
            <a:off x="9291669" y="6356350"/>
            <a:ext cx="2743200" cy="365125"/>
          </a:xfrm>
        </p:spPr>
        <p:txBody>
          <a:bodyPr/>
          <a:lstStyle>
            <a:lvl1pPr>
              <a:buNone/>
              <a:def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5E2EABFD-C142-48D2-8272-3C2D8BEF2F38}" type="slidenum">
              <a:rPr/>
              <a:t>‹#›</a:t>
            </a:fld>
            <a:endParaRPr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205993" y="6078789"/>
            <a:ext cx="3103254" cy="555122"/>
            <a:chOff x="178348" y="71934"/>
            <a:chExt cx="4769604" cy="81048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348" y="71934"/>
              <a:ext cx="827191" cy="810480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005538" y="292508"/>
              <a:ext cx="3942414" cy="449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方正小标宋简体" panose="02010601030101010101" pitchFamily="2" charset="-122"/>
                  <a:ea typeface="方正小标宋简体" panose="02010601030101010101" pitchFamily="2" charset="-122"/>
                  <a:cs typeface="微软雅黑" panose="020B0503020204020204" charset="-122"/>
                </a:rPr>
                <a:t>中国大学生计算机设计大赛</a:t>
              </a:r>
              <a:endParaRPr lang="zh-CN" altLang="en-US" sz="1400" dirty="0">
                <a:latin typeface="方正小标宋简体" panose="02010601030101010101" pitchFamily="2" charset="-122"/>
                <a:ea typeface="方正小标宋简体" panose="02010601030101010101" pitchFamily="2" charset="-122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93027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600">
                <a:solidFill>
                  <a:schemeClr val="tx1">
                    <a:tint val="7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fld id="{97AA5570-5C36-4F12-A1EB-4155A99A1666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0.xml"/><Relationship Id="rId26" Type="http://schemas.openxmlformats.org/officeDocument/2006/relationships/image" Target="../media/image8.png"/><Relationship Id="rId3" Type="http://schemas.openxmlformats.org/officeDocument/2006/relationships/tags" Target="../tags/tag3.xml"/><Relationship Id="rId21" Type="http://schemas.openxmlformats.org/officeDocument/2006/relationships/image" Target="../media/image3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7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6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5.png"/><Relationship Id="rId28" Type="http://schemas.openxmlformats.org/officeDocument/2006/relationships/image" Target="../media/image10.png"/><Relationship Id="rId10" Type="http://schemas.openxmlformats.org/officeDocument/2006/relationships/tags" Target="../tags/tag10.xml"/><Relationship Id="rId19" Type="http://schemas.openxmlformats.org/officeDocument/2006/relationships/notesSlide" Target="../notesSlides/notesSlide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4.png"/><Relationship Id="rId27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26" Type="http://schemas.openxmlformats.org/officeDocument/2006/relationships/notesSlide" Target="../notesSlides/notesSlide9.xml"/><Relationship Id="rId3" Type="http://schemas.openxmlformats.org/officeDocument/2006/relationships/tags" Target="../tags/tag20.xml"/><Relationship Id="rId21" Type="http://schemas.openxmlformats.org/officeDocument/2006/relationships/tags" Target="../tags/tag38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5" Type="http://schemas.openxmlformats.org/officeDocument/2006/relationships/slideLayout" Target="../slideLayouts/slideLayout10.xml"/><Relationship Id="rId33" Type="http://schemas.openxmlformats.org/officeDocument/2006/relationships/image" Target="../media/image62.png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tags" Target="../tags/tag37.xml"/><Relationship Id="rId29" Type="http://schemas.openxmlformats.org/officeDocument/2006/relationships/image" Target="../media/image58.png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24" Type="http://schemas.openxmlformats.org/officeDocument/2006/relationships/tags" Target="../tags/tag41.xml"/><Relationship Id="rId32" Type="http://schemas.openxmlformats.org/officeDocument/2006/relationships/image" Target="../media/image61.png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23" Type="http://schemas.openxmlformats.org/officeDocument/2006/relationships/tags" Target="../tags/tag40.xml"/><Relationship Id="rId28" Type="http://schemas.openxmlformats.org/officeDocument/2006/relationships/image" Target="../media/image57.png"/><Relationship Id="rId10" Type="http://schemas.openxmlformats.org/officeDocument/2006/relationships/tags" Target="../tags/tag27.xml"/><Relationship Id="rId19" Type="http://schemas.openxmlformats.org/officeDocument/2006/relationships/tags" Target="../tags/tag36.xml"/><Relationship Id="rId31" Type="http://schemas.openxmlformats.org/officeDocument/2006/relationships/image" Target="../media/image60.pn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tags" Target="../tags/tag39.xml"/><Relationship Id="rId27" Type="http://schemas.openxmlformats.org/officeDocument/2006/relationships/image" Target="../media/image56.png"/><Relationship Id="rId30" Type="http://schemas.openxmlformats.org/officeDocument/2006/relationships/image" Target="../media/image59.png"/><Relationship Id="rId8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notesSlide" Target="../notesSlides/notesSlide11.xml"/><Relationship Id="rId5" Type="http://schemas.openxmlformats.org/officeDocument/2006/relationships/tags" Target="../tags/tag46.xml"/><Relationship Id="rId10" Type="http://schemas.openxmlformats.org/officeDocument/2006/relationships/slideLayout" Target="../slideLayouts/slideLayout10.xml"/><Relationship Id="rId4" Type="http://schemas.openxmlformats.org/officeDocument/2006/relationships/tags" Target="../tags/tag45.xml"/><Relationship Id="rId9" Type="http://schemas.openxmlformats.org/officeDocument/2006/relationships/tags" Target="../tags/tag5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26" Type="http://schemas.openxmlformats.org/officeDocument/2006/relationships/image" Target="../media/image98.png"/><Relationship Id="rId3" Type="http://schemas.openxmlformats.org/officeDocument/2006/relationships/image" Target="../media/image75.png"/><Relationship Id="rId21" Type="http://schemas.openxmlformats.org/officeDocument/2006/relationships/image" Target="../media/image93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5" Type="http://schemas.openxmlformats.org/officeDocument/2006/relationships/image" Target="../media/image97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29" Type="http://schemas.openxmlformats.org/officeDocument/2006/relationships/image" Target="../media/image10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24" Type="http://schemas.openxmlformats.org/officeDocument/2006/relationships/image" Target="../media/image96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23" Type="http://schemas.openxmlformats.org/officeDocument/2006/relationships/image" Target="../media/image95.png"/><Relationship Id="rId28" Type="http://schemas.openxmlformats.org/officeDocument/2006/relationships/image" Target="../media/image100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94.png"/><Relationship Id="rId27" Type="http://schemas.openxmlformats.org/officeDocument/2006/relationships/image" Target="../media/image9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Grp="1"/>
          </p:cNvSpPr>
          <p:nvPr/>
        </p:nvSpPr>
        <p:spPr>
          <a:xfrm>
            <a:off x="0" y="1345456"/>
            <a:ext cx="12192000" cy="2667471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532130" y="2381885"/>
            <a:ext cx="11127740" cy="12617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  <a:buNone/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医智联</a:t>
            </a:r>
            <a:r>
              <a:rPr lang="en-US" sz="4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基于多智能体协作的慢性病智慧管理平台</a:t>
            </a:r>
          </a:p>
          <a:p>
            <a:pPr algn="ctr">
              <a:lnSpc>
                <a:spcPct val="150000"/>
              </a:lnSpc>
              <a:buNone/>
              <a:def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40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16592" y="3214687"/>
            <a:ext cx="981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00" b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51025" y="1959610"/>
            <a:ext cx="8382000" cy="398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2026年中国大学生计算机设计大赛 · </a:t>
            </a:r>
            <a:r>
              <a:rPr sz="2000" b="0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人工智能实践赛</a:t>
            </a:r>
            <a:endParaRPr sz="2000" b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524000" y="4610100"/>
            <a:ext cx="9144000" cy="3073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5D5952"/>
                </a:solidFill>
                <a:latin typeface="微软雅黑" panose="020B0503020204020204" charset="-122"/>
              </a:rPr>
              <a:t>成员：李永振、田学仕、褚梓涵、刘伊皓、范虹婵、徐俊勇、郭明浩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1524000" y="5133340"/>
            <a:ext cx="9144000" cy="3073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5D5952"/>
                </a:solidFill>
                <a:latin typeface="微软雅黑" panose="020B0503020204020204" charset="-122"/>
              </a:rPr>
              <a:t>指导老师：冯敏、孙凯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1524000" y="5646420"/>
            <a:ext cx="9144000" cy="3073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2000" b="1">
                <a:solidFill>
                  <a:srgbClr val="2B3330"/>
                </a:solidFill>
                <a:latin typeface="微软雅黑" panose="020B0503020204020204" charset="-122"/>
              </a:rPr>
              <a:t>作品编号：</a:t>
            </a:r>
            <a:r>
              <a:rPr lang="en-US" altLang="zh-CN" sz="2000" b="1">
                <a:solidFill>
                  <a:srgbClr val="2B3330"/>
                </a:solidFill>
                <a:latin typeface="微软雅黑" panose="020B0503020204020204" charset="-122"/>
              </a:rPr>
              <a:t>2026046605 · </a:t>
            </a:r>
            <a:r>
              <a:rPr lang="zh-CN" altLang="en-US" sz="2000" b="1">
                <a:solidFill>
                  <a:srgbClr val="2B3330"/>
                </a:solidFill>
                <a:latin typeface="微软雅黑" panose="020B0503020204020204" charset="-122"/>
              </a:rPr>
              <a:t>智慧医疗与健康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2438400" cy="666750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204152" y="836268"/>
            <a:ext cx="5837555" cy="51752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000434"/>
                </a:solidFill>
                <a:latin typeface="Noto Sans SC" panose="020B0200000000000000" charset="-122"/>
                <a:ea typeface="Noto Sans SC" panose="020B0200000000000000" charset="-122"/>
              </a:rPr>
              <a:t>项目背景</a:t>
            </a:r>
            <a:r>
              <a:rPr lang="en-US" sz="2800" b="1" i="0" dirty="0">
                <a:solidFill>
                  <a:srgbClr val="000434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2800" b="1" i="0" dirty="0">
                <a:solidFill>
                  <a:srgbClr val="000434"/>
                </a:solidFill>
                <a:latin typeface="Noto Sans SC" panose="020B0200000000000000" charset="-122"/>
                <a:ea typeface="Noto Sans SC" panose="020B0200000000000000" charset="-122"/>
              </a:rPr>
              <a:t>:</a:t>
            </a:r>
            <a:r>
              <a:rPr lang="en-US" sz="2800" b="1" i="0" dirty="0">
                <a:solidFill>
                  <a:srgbClr val="000434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2800" b="1" i="0" dirty="0" err="1">
                <a:solidFill>
                  <a:srgbClr val="000434"/>
                </a:solidFill>
                <a:latin typeface="Noto Sans SC" panose="020B0200000000000000" charset="-122"/>
                <a:ea typeface="Noto Sans SC" panose="020B0200000000000000" charset="-122"/>
              </a:rPr>
              <a:t>慢病管理是一项长期服务</a:t>
            </a:r>
            <a:endParaRPr sz="2800" b="1" i="0" dirty="0">
              <a:solidFill>
                <a:srgbClr val="000434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22"/>
          <p:cNvSpPr txBox="1"/>
          <p:nvPr>
            <p:custDataLst>
              <p:tags r:id="rId1"/>
            </p:custDataLst>
          </p:nvPr>
        </p:nvSpPr>
        <p:spPr>
          <a:xfrm>
            <a:off x="2940685" y="5436608"/>
            <a:ext cx="6310630" cy="45212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0639"/>
                </a:solidFill>
                <a:latin typeface="Noto Sans SC" panose="020B0200000000000000" charset="-122"/>
                <a:ea typeface="Noto Sans SC" panose="020B0200000000000000" charset="-122"/>
              </a:rPr>
              <a:t>项目目标</a:t>
            </a:r>
            <a:r>
              <a:rPr lang="zh-CN" sz="1800" b="1" i="0" dirty="0">
                <a:solidFill>
                  <a:srgbClr val="000639"/>
                </a:solidFill>
                <a:latin typeface="Noto Sans SC" panose="020B0200000000000000" charset="-122"/>
                <a:ea typeface="Noto Sans SC" panose="020B0200000000000000" charset="-122"/>
              </a:rPr>
              <a:t>：</a:t>
            </a:r>
            <a:r>
              <a:rPr dirty="0" err="1">
                <a:solidFill>
                  <a:srgbClr val="000223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构建可落地、可追溯、可扩展</a:t>
            </a:r>
            <a:r>
              <a:rPr lang="zh-CN" dirty="0">
                <a:latin typeface="Noto Sans SC" panose="020B0200000000000000" charset="-122"/>
                <a:ea typeface="Noto Sans SC" panose="020B0200000000000000" charset="-122"/>
                <a:sym typeface="+mn-ea"/>
              </a:rPr>
              <a:t>的慢病智慧管理平台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dirty="0">
                <a:latin typeface="Noto Sans SC" panose="020B0200000000000000" charset="-122"/>
                <a:ea typeface="Noto Sans SC" panose="020B0200000000000000" charset="-122"/>
                <a:sym typeface="+mn-ea"/>
              </a:rPr>
              <a:t> </a:t>
            </a:r>
            <a:r>
              <a:rPr lang="en-US" altLang="zh-CN" dirty="0">
                <a:latin typeface="Noto Sans SC" panose="020B0200000000000000" charset="-122"/>
                <a:ea typeface="Noto Sans SC" panose="020B0200000000000000" charset="-122"/>
                <a:sym typeface="+mn-ea"/>
              </a:rPr>
              <a:t>                  </a:t>
            </a:r>
            <a:endParaRPr dirty="0">
              <a:solidFill>
                <a:srgbClr val="000223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endParaRPr sz="1800" i="0" dirty="0">
              <a:solidFill>
                <a:srgbClr val="00022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81087" y="1471824"/>
            <a:ext cx="5793105" cy="4718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</a:rPr>
              <a:t>我们从基层慢病随访中遇到的几个具体问题出发</a:t>
            </a:r>
            <a:endParaRPr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26" name="图片 25" descr="ChatGPT Image 2026年6月27日 14_51_00"/>
          <p:cNvPicPr>
            <a:picLocks noChangeAspect="1"/>
          </p:cNvPicPr>
          <p:nvPr/>
        </p:nvPicPr>
        <p:blipFill>
          <a:blip r:embed="rId20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55209" y="2184957"/>
            <a:ext cx="2479675" cy="2479675"/>
          </a:xfrm>
          <a:prstGeom prst="rect">
            <a:avLst/>
          </a:prstGeom>
        </p:spPr>
      </p:pic>
      <p:pic>
        <p:nvPicPr>
          <p:cNvPr id="27" name="Picture 2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1206"/>
          <a:stretch>
            <a:fillRect/>
          </a:stretch>
        </p:blipFill>
        <p:spPr>
          <a:xfrm>
            <a:off x="7251920" y="2118255"/>
            <a:ext cx="3328670" cy="1075690"/>
          </a:xfrm>
          <a:prstGeom prst="rect">
            <a:avLst/>
          </a:prstGeom>
        </p:spPr>
      </p:pic>
      <p:pic>
        <p:nvPicPr>
          <p:cNvPr id="28" name="Picture 3" descr="image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06"/>
          <a:stretch>
            <a:fillRect/>
          </a:stretch>
        </p:blipFill>
        <p:spPr>
          <a:xfrm>
            <a:off x="1817369" y="3947082"/>
            <a:ext cx="3318510" cy="1003300"/>
          </a:xfrm>
          <a:prstGeom prst="rect">
            <a:avLst/>
          </a:prstGeom>
        </p:spPr>
      </p:pic>
      <p:pic>
        <p:nvPicPr>
          <p:cNvPr id="29" name="Picture 5" descr="imag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32076" y="2118255"/>
            <a:ext cx="3332416" cy="1056851"/>
          </a:xfrm>
          <a:prstGeom prst="rect">
            <a:avLst/>
          </a:prstGeom>
        </p:spPr>
      </p:pic>
      <p:pic>
        <p:nvPicPr>
          <p:cNvPr id="30" name="Picture 6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51674" y="3924222"/>
            <a:ext cx="3689985" cy="972820"/>
          </a:xfrm>
          <a:prstGeom prst="rect">
            <a:avLst/>
          </a:prstGeom>
        </p:spPr>
      </p:pic>
      <p:pic>
        <p:nvPicPr>
          <p:cNvPr id="31" name="Picture 8" descr="image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47539" y="4093767"/>
            <a:ext cx="581660" cy="598805"/>
          </a:xfrm>
          <a:prstGeom prst="rect">
            <a:avLst/>
          </a:prstGeom>
        </p:spPr>
      </p:pic>
      <p:pic>
        <p:nvPicPr>
          <p:cNvPr id="32" name="Picture 9" descr="image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31709" y="2343707"/>
            <a:ext cx="571500" cy="581660"/>
          </a:xfrm>
          <a:prstGeom prst="rect">
            <a:avLst/>
          </a:prstGeom>
        </p:spPr>
      </p:pic>
      <p:pic>
        <p:nvPicPr>
          <p:cNvPr id="33" name="Picture 11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44384" y="4180762"/>
            <a:ext cx="549910" cy="566420"/>
          </a:xfrm>
          <a:prstGeom prst="rect">
            <a:avLst/>
          </a:prstGeom>
        </p:spPr>
      </p:pic>
      <p:pic>
        <p:nvPicPr>
          <p:cNvPr id="34" name="Picture 12" descr="image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31334" y="2343707"/>
            <a:ext cx="532130" cy="548640"/>
          </a:xfrm>
          <a:prstGeom prst="rect">
            <a:avLst/>
          </a:prstGeom>
        </p:spPr>
      </p:pic>
      <p:sp>
        <p:nvSpPr>
          <p:cNvPr id="35" name="TextBox 14"/>
          <p:cNvSpPr txBox="1"/>
          <p:nvPr>
            <p:custDataLst>
              <p:tags r:id="rId10"/>
            </p:custDataLst>
          </p:nvPr>
        </p:nvSpPr>
        <p:spPr>
          <a:xfrm>
            <a:off x="1973515" y="2183179"/>
            <a:ext cx="2240565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000639"/>
                </a:solidFill>
                <a:latin typeface="Noto Sans SC" panose="020B0200000000000000" charset="-122"/>
                <a:ea typeface="Noto Sans SC" panose="020B0200000000000000" charset="-122"/>
              </a:rPr>
              <a:t>慢病管理不是一次诊疗</a:t>
            </a:r>
          </a:p>
        </p:txBody>
      </p:sp>
      <p:sp>
        <p:nvSpPr>
          <p:cNvPr id="36" name="TextBox 15"/>
          <p:cNvSpPr txBox="1"/>
          <p:nvPr>
            <p:custDataLst>
              <p:tags r:id="rId11"/>
            </p:custDataLst>
          </p:nvPr>
        </p:nvSpPr>
        <p:spPr>
          <a:xfrm>
            <a:off x="1782634" y="2585102"/>
            <a:ext cx="2520315" cy="43929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000222"/>
                </a:solidFill>
                <a:latin typeface="Noto Sans SC" panose="020B0200000000000000" charset="-122"/>
                <a:ea typeface="Noto Sans SC" panose="020B0200000000000000" charset="-122"/>
              </a:rPr>
              <a:t>血压、血糖、用药、运动、生活</a:t>
            </a:r>
            <a:endParaRPr sz="1400" b="0" i="0" dirty="0">
              <a:solidFill>
                <a:srgbClr val="000222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/>
            <a:r>
              <a:rPr lang="zh-CN" sz="1400" dirty="0">
                <a:latin typeface="Noto Sans SC" panose="020B0200000000000000" charset="-122"/>
                <a:ea typeface="Noto Sans SC" panose="020B0200000000000000" charset="-122"/>
              </a:rPr>
              <a:t>方式持续影响风险变化</a:t>
            </a:r>
          </a:p>
        </p:txBody>
      </p:sp>
      <p:sp>
        <p:nvSpPr>
          <p:cNvPr id="37" name="TextBox 16"/>
          <p:cNvSpPr txBox="1"/>
          <p:nvPr>
            <p:custDataLst>
              <p:tags r:id="rId12"/>
            </p:custDataLst>
          </p:nvPr>
        </p:nvSpPr>
        <p:spPr>
          <a:xfrm>
            <a:off x="2436557" y="4002009"/>
            <a:ext cx="1565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639"/>
                </a:solidFill>
                <a:latin typeface="Noto Sans SC" panose="020B0200000000000000" charset="-122"/>
                <a:ea typeface="Noto Sans SC" panose="020B0200000000000000" charset="-122"/>
              </a:rPr>
              <a:t>基层医生负担重</a:t>
            </a:r>
            <a:endParaRPr sz="1725" b="1" i="0">
              <a:solidFill>
                <a:srgbClr val="00063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8" name="TextBox 17"/>
          <p:cNvSpPr txBox="1"/>
          <p:nvPr>
            <p:custDataLst>
              <p:tags r:id="rId13"/>
            </p:custDataLst>
          </p:nvPr>
        </p:nvSpPr>
        <p:spPr>
          <a:xfrm>
            <a:off x="1959037" y="4401043"/>
            <a:ext cx="2414968" cy="43929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000222"/>
                </a:solidFill>
                <a:latin typeface="Noto Sans SC" panose="020B0200000000000000" charset="-122"/>
                <a:ea typeface="Noto Sans SC" panose="020B0200000000000000" charset="-122"/>
              </a:rPr>
              <a:t>承担大量随访、健康宣教和</a:t>
            </a:r>
            <a:endParaRPr sz="1400" b="0" i="0" dirty="0">
              <a:solidFill>
                <a:srgbClr val="000222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000222"/>
                </a:solidFill>
                <a:latin typeface="Noto Sans SC" panose="020B0200000000000000" charset="-122"/>
                <a:ea typeface="Noto Sans SC" panose="020B0200000000000000" charset="-122"/>
              </a:rPr>
              <a:t>风险</a:t>
            </a:r>
            <a:r>
              <a:rPr sz="1400" dirty="0" err="1">
                <a:solidFill>
                  <a:srgbClr val="000222"/>
                </a:solidFill>
                <a:latin typeface="Noto Sans SC" panose="020B0200000000000000" charset="-122"/>
                <a:ea typeface="Noto Sans SC" panose="020B0200000000000000" charset="-122"/>
              </a:rPr>
              <a:t>筛查工作</a:t>
            </a:r>
            <a:endParaRPr sz="1400" dirty="0">
              <a:solidFill>
                <a:srgbClr val="000222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9" name="TextBox 18"/>
          <p:cNvSpPr txBox="1"/>
          <p:nvPr>
            <p:custDataLst>
              <p:tags r:id="rId14"/>
            </p:custDataLst>
          </p:nvPr>
        </p:nvSpPr>
        <p:spPr>
          <a:xfrm>
            <a:off x="7887397" y="4131517"/>
            <a:ext cx="2004631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639"/>
                </a:solidFill>
                <a:latin typeface="Noto Sans SC" panose="020B0200000000000000" charset="-122"/>
                <a:ea typeface="Noto Sans SC" panose="020B0200000000000000" charset="-122"/>
              </a:rPr>
              <a:t>患者数量多、病程长</a:t>
            </a:r>
          </a:p>
        </p:txBody>
      </p:sp>
      <p:sp>
        <p:nvSpPr>
          <p:cNvPr id="40" name="TextBox 19"/>
          <p:cNvSpPr txBox="1"/>
          <p:nvPr>
            <p:custDataLst>
              <p:tags r:id="rId15"/>
            </p:custDataLst>
          </p:nvPr>
        </p:nvSpPr>
        <p:spPr>
          <a:xfrm>
            <a:off x="7781479" y="4451303"/>
            <a:ext cx="2589371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222"/>
                </a:solidFill>
                <a:latin typeface="Noto Sans SC" panose="020B0200000000000000" charset="-122"/>
                <a:ea typeface="Noto Sans SC" panose="020B0200000000000000" charset="-122"/>
              </a:rPr>
              <a:t>数据分散</a:t>
            </a:r>
            <a:r>
              <a:rPr lang="zh-CN" sz="1400" b="0" i="0">
                <a:solidFill>
                  <a:srgbClr val="000222"/>
                </a:solidFill>
                <a:latin typeface="Noto Sans SC" panose="020B0200000000000000" charset="-122"/>
                <a:ea typeface="Noto Sans SC" panose="020B0200000000000000" charset="-122"/>
              </a:rPr>
              <a:t>，</a:t>
            </a:r>
            <a:r>
              <a:rPr sz="1400" b="0" i="0">
                <a:solidFill>
                  <a:srgbClr val="000222"/>
                </a:solidFill>
                <a:latin typeface="Noto Sans SC" panose="020B0200000000000000" charset="-122"/>
                <a:ea typeface="Noto Sans SC" panose="020B0200000000000000" charset="-122"/>
              </a:rPr>
              <a:t>风险变化不易及时发现</a:t>
            </a:r>
          </a:p>
        </p:txBody>
      </p:sp>
      <p:sp>
        <p:nvSpPr>
          <p:cNvPr id="41" name="TextBox 20"/>
          <p:cNvSpPr txBox="1"/>
          <p:nvPr>
            <p:custDataLst>
              <p:tags r:id="rId16"/>
            </p:custDataLst>
          </p:nvPr>
        </p:nvSpPr>
        <p:spPr>
          <a:xfrm>
            <a:off x="8102027" y="2247218"/>
            <a:ext cx="1565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639"/>
                </a:solidFill>
                <a:latin typeface="Noto Sans SC" panose="020B0200000000000000" charset="-122"/>
                <a:ea typeface="Noto Sans SC" panose="020B0200000000000000" charset="-122"/>
              </a:rPr>
              <a:t>现有工具碎片化</a:t>
            </a:r>
            <a:endParaRPr sz="1725" b="1" i="0">
              <a:solidFill>
                <a:srgbClr val="00063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42" name="TextBox 21"/>
          <p:cNvSpPr txBox="1"/>
          <p:nvPr>
            <p:custDataLst>
              <p:tags r:id="rId17"/>
            </p:custDataLst>
          </p:nvPr>
        </p:nvSpPr>
        <p:spPr>
          <a:xfrm>
            <a:off x="7940674" y="2608057"/>
            <a:ext cx="2340292" cy="4632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000222"/>
                </a:solidFill>
                <a:latin typeface="Noto Sans SC" panose="020B0200000000000000" charset="-122"/>
                <a:ea typeface="Noto Sans SC" panose="020B0200000000000000" charset="-122"/>
              </a:rPr>
              <a:t>缺乏可落地、可追溯、可扩展</a:t>
            </a:r>
            <a:endParaRPr sz="1400" b="0" i="0" dirty="0">
              <a:solidFill>
                <a:srgbClr val="000222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1905" algn="ctr"/>
            <a:r>
              <a:rPr lang="zh-CN" sz="1400" dirty="0">
                <a:latin typeface="Noto Sans SC" panose="020B0200000000000000" charset="-122"/>
                <a:ea typeface="Noto Sans SC" panose="020B0200000000000000" charset="-122"/>
              </a:rPr>
              <a:t>的智能辅助系统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162549" y="3012362"/>
            <a:ext cx="1811655" cy="10394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oto Sans SC" panose="020B0200000000000000" charset="-122"/>
                <a:ea typeface="Noto Sans SC" panose="020B0200000000000000" charset="-122"/>
                <a:sym typeface="+mn-ea"/>
              </a:rPr>
              <a:t>为何需要</a:t>
            </a:r>
          </a:p>
          <a:p>
            <a:pPr algn="ctr"/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oto Sans SC" panose="020B0200000000000000" charset="-122"/>
                <a:ea typeface="Noto Sans SC" panose="020B0200000000000000" charset="-122"/>
                <a:sym typeface="+mn-ea"/>
              </a:rPr>
              <a:t>医智联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202" y="2655604"/>
            <a:ext cx="2734627" cy="2191512"/>
          </a:xfrm>
          <a:prstGeom prst="rect">
            <a:avLst/>
          </a:prstGeom>
        </p:spPr>
      </p:pic>
      <p:pic>
        <p:nvPicPr>
          <p:cNvPr id="3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983" y="2657557"/>
            <a:ext cx="2729622" cy="2196084"/>
          </a:xfrm>
          <a:prstGeom prst="rect">
            <a:avLst/>
          </a:prstGeom>
        </p:spPr>
      </p:pic>
      <p:pic>
        <p:nvPicPr>
          <p:cNvPr id="4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849" y="2657367"/>
            <a:ext cx="2677431" cy="2182844"/>
          </a:xfrm>
          <a:prstGeom prst="rect">
            <a:avLst/>
          </a:prstGeom>
        </p:spPr>
      </p:pic>
      <p:pic>
        <p:nvPicPr>
          <p:cNvPr id="5" name="Picture 6" descr="image.png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85934" y="2055865"/>
            <a:ext cx="6216396" cy="419189"/>
          </a:xfrm>
          <a:prstGeom prst="rect">
            <a:avLst/>
          </a:prstGeom>
        </p:spPr>
      </p:pic>
      <p:pic>
        <p:nvPicPr>
          <p:cNvPr id="6" name="Picture 7" descr="image.png"/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39913" y="2885821"/>
            <a:ext cx="465582" cy="308804"/>
          </a:xfrm>
          <a:prstGeom prst="rect">
            <a:avLst/>
          </a:prstGeom>
        </p:spPr>
      </p:pic>
      <p:pic>
        <p:nvPicPr>
          <p:cNvPr id="8" name="Picture 8" descr="image.png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45253" y="2889364"/>
            <a:ext cx="462057" cy="309625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8018" y="786852"/>
            <a:ext cx="5695950" cy="51244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设计思路</a:t>
            </a:r>
            <a:r>
              <a:rPr lang="en-US" sz="2800" b="1" i="0" dirty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2800" b="1" i="0" dirty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:</a:t>
            </a:r>
            <a:r>
              <a:rPr lang="en-US" sz="2800" b="1" i="0" dirty="0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en-US" sz="2800" b="1" i="0" dirty="0" err="1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AI</a:t>
            </a:r>
            <a:r>
              <a:rPr sz="2800" b="1" i="0" dirty="0" err="1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嵌入慢病管理完整流程</a:t>
            </a:r>
            <a:endParaRPr sz="2800" b="1" i="0" dirty="0">
              <a:solidFill>
                <a:srgbClr val="000225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43284" y="1855171"/>
            <a:ext cx="2885313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dirty="0" err="1">
                <a:solidFill>
                  <a:srgbClr val="D79467"/>
                </a:solidFill>
                <a:latin typeface="Noto Sans SC" panose="020B0200000000000000" charset="-122"/>
                <a:ea typeface="Noto Sans SC" panose="020B0200000000000000" charset="-122"/>
              </a:rPr>
              <a:t>AI嵌入慢病管理完整流程</a:t>
            </a:r>
            <a:endParaRPr sz="1950" b="1" i="0" dirty="0">
              <a:solidFill>
                <a:srgbClr val="D7946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2691028" y="2803480"/>
            <a:ext cx="83524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1052A"/>
                </a:solidFill>
                <a:latin typeface="Noto Sans SC" panose="020B0200000000000000" charset="-122"/>
                <a:ea typeface="Noto Sans SC" panose="020B0200000000000000" charset="-122"/>
              </a:rPr>
              <a:t>患者端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8728354" y="2803480"/>
            <a:ext cx="109899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管理员端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5798368" y="2834912"/>
            <a:ext cx="804481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医生端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1931218" y="3479374"/>
            <a:ext cx="2520315" cy="102098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00" b="0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强调长期自我管理</a:t>
            </a:r>
            <a:endParaRPr sz="1300" b="0" i="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1360"/>
              </a:spcBef>
            </a:pPr>
            <a:r>
              <a:rPr lang="zh-CN" sz="1300" dirty="0">
                <a:latin typeface="Noto Sans SC" panose="020B0200000000000000" charset="-122"/>
                <a:ea typeface="Noto Sans SC" panose="020B0200000000000000" charset="-122"/>
              </a:rPr>
              <a:t>每日记录、健康趋势、随访提醒</a:t>
            </a:r>
          </a:p>
          <a:p>
            <a:pPr>
              <a:spcBef>
                <a:spcPts val="1360"/>
              </a:spcBef>
            </a:pPr>
            <a:r>
              <a:rPr lang="zh-CN" sz="1300" dirty="0">
                <a:latin typeface="Noto Sans SC" panose="020B0200000000000000" charset="-122"/>
                <a:ea typeface="Noto Sans SC" panose="020B0200000000000000" charset="-122"/>
              </a:rPr>
              <a:t>AI健康顾问、健康宣教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5067134" y="3479374"/>
            <a:ext cx="2520315" cy="102098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00" b="0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强调提升管理效率</a:t>
            </a:r>
            <a:endParaRPr sz="1300" b="0" i="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1360"/>
              </a:spcBef>
            </a:pPr>
            <a:r>
              <a:rPr lang="zh-CN" sz="1300" dirty="0">
                <a:latin typeface="Noto Sans SC" panose="020B0200000000000000" charset="-122"/>
                <a:ea typeface="Noto Sans SC" panose="020B0200000000000000" charset="-122"/>
              </a:rPr>
              <a:t>患者详情、风险评估、随访管理</a:t>
            </a:r>
          </a:p>
          <a:p>
            <a:pPr>
              <a:spcBef>
                <a:spcPts val="1360"/>
              </a:spcBef>
            </a:pPr>
            <a:r>
              <a:rPr lang="zh-CN" sz="1300" dirty="0">
                <a:latin typeface="Noto Sans SC" panose="020B0200000000000000" charset="-122"/>
                <a:ea typeface="Noto Sans SC" panose="020B0200000000000000" charset="-122"/>
              </a:rPr>
              <a:t>AI临床顾问、医患消息</a:t>
            </a:r>
          </a:p>
        </p:txBody>
      </p:sp>
      <p:sp>
        <p:nvSpPr>
          <p:cNvPr id="19" name="TextBox 16"/>
          <p:cNvSpPr txBox="1"/>
          <p:nvPr/>
        </p:nvSpPr>
        <p:spPr>
          <a:xfrm>
            <a:off x="8203050" y="3479374"/>
            <a:ext cx="2340292" cy="102098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强调内容可维护、过程可监管</a:t>
            </a:r>
          </a:p>
          <a:p>
            <a:pPr>
              <a:spcBef>
                <a:spcPts val="1360"/>
              </a:spcBef>
            </a:pPr>
            <a:r>
              <a:rPr lang="zh-CN" sz="1300">
                <a:latin typeface="Noto Sans SC" panose="020B0200000000000000" charset="-122"/>
                <a:ea typeface="Noto Sans SC" panose="020B0200000000000000" charset="-122"/>
              </a:rPr>
              <a:t>知识库管理、视频资源管理</a:t>
            </a:r>
          </a:p>
          <a:p>
            <a:pPr>
              <a:spcBef>
                <a:spcPts val="1360"/>
              </a:spcBef>
            </a:pPr>
            <a:r>
              <a:rPr lang="zh-CN" sz="1300">
                <a:latin typeface="Noto Sans SC" panose="020B0200000000000000" charset="-122"/>
                <a:ea typeface="Noto Sans SC" panose="020B0200000000000000" charset="-122"/>
              </a:rPr>
              <a:t>知识图谱管理、过程监测</a:t>
            </a:r>
          </a:p>
        </p:txBody>
      </p:sp>
      <p:sp>
        <p:nvSpPr>
          <p:cNvPr id="20" name="TextBox 17"/>
          <p:cNvSpPr txBox="1"/>
          <p:nvPr/>
        </p:nvSpPr>
        <p:spPr>
          <a:xfrm>
            <a:off x="4604933" y="5127501"/>
            <a:ext cx="317839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dirty="0" err="1">
                <a:solidFill>
                  <a:srgbClr val="000220"/>
                </a:solidFill>
                <a:latin typeface="Noto Sans SC" panose="020B0200000000000000" charset="-122"/>
                <a:ea typeface="Noto Sans SC" panose="020B0200000000000000" charset="-122"/>
              </a:rPr>
              <a:t>三类角色协同</a:t>
            </a:r>
            <a:r>
              <a:rPr lang="zh-CN" sz="1950" b="1" i="0" dirty="0">
                <a:solidFill>
                  <a:srgbClr val="000220"/>
                </a:solidFill>
                <a:latin typeface="Noto Sans SC" panose="020B0200000000000000" charset="-122"/>
                <a:ea typeface="Noto Sans SC" panose="020B0200000000000000" charset="-122"/>
              </a:rPr>
              <a:t>，</a:t>
            </a:r>
            <a:r>
              <a:rPr sz="1950" b="1" i="0" dirty="0" err="1">
                <a:solidFill>
                  <a:srgbClr val="000220"/>
                </a:solidFill>
                <a:latin typeface="Noto Sans SC" panose="020B0200000000000000" charset="-122"/>
                <a:ea typeface="Noto Sans SC" panose="020B0200000000000000" charset="-122"/>
              </a:rPr>
              <a:t>形成管理闭环</a:t>
            </a:r>
            <a:endParaRPr sz="1950" b="1" i="0" dirty="0">
              <a:solidFill>
                <a:srgbClr val="00022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445657" y="187"/>
            <a:ext cx="2459837" cy="653143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设计思路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5" descr="imag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99236" y="3832433"/>
            <a:ext cx="5409148" cy="436911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4888514" y="0"/>
            <a:ext cx="2452085" cy="653143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系统架构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2" descr="image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97758" y="2915261"/>
            <a:ext cx="5415248" cy="442546"/>
          </a:xfrm>
          <a:prstGeom prst="rect">
            <a:avLst/>
          </a:prstGeom>
        </p:spPr>
      </p:pic>
      <p:pic>
        <p:nvPicPr>
          <p:cNvPr id="13" name="Picture 3" descr="image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90804" y="1980687"/>
            <a:ext cx="5419439" cy="442889"/>
          </a:xfrm>
          <a:prstGeom prst="rect">
            <a:avLst/>
          </a:prstGeom>
        </p:spPr>
      </p:pic>
      <p:pic>
        <p:nvPicPr>
          <p:cNvPr id="15" name="Picture 5" descr="image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99236" y="4790027"/>
            <a:ext cx="5409148" cy="436911"/>
          </a:xfrm>
          <a:prstGeom prst="rect">
            <a:avLst/>
          </a:prstGeom>
        </p:spPr>
      </p:pic>
      <p:pic>
        <p:nvPicPr>
          <p:cNvPr id="16" name="Picture 6" descr="image.png"/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574590" y="3250120"/>
            <a:ext cx="589440" cy="860393"/>
          </a:xfrm>
          <a:prstGeom prst="rect">
            <a:avLst/>
          </a:prstGeom>
        </p:spPr>
      </p:pic>
      <p:sp>
        <p:nvSpPr>
          <p:cNvPr id="17" name="TextBox 10"/>
          <p:cNvSpPr txBox="1"/>
          <p:nvPr/>
        </p:nvSpPr>
        <p:spPr>
          <a:xfrm>
            <a:off x="128216" y="707613"/>
            <a:ext cx="2542413" cy="48215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000225"/>
                </a:solidFill>
                <a:latin typeface="Noto Sans SC" panose="020B0200000000000000" charset="-122"/>
                <a:ea typeface="Noto Sans SC" panose="020B0200000000000000" charset="-122"/>
              </a:rPr>
              <a:t>系统总体架构</a:t>
            </a:r>
            <a:endParaRPr sz="2800" b="1" i="0" dirty="0">
              <a:solidFill>
                <a:srgbClr val="00083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" name="TextBox 11"/>
          <p:cNvSpPr txBox="1"/>
          <p:nvPr/>
        </p:nvSpPr>
        <p:spPr>
          <a:xfrm>
            <a:off x="5738431" y="2045112"/>
            <a:ext cx="685800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前端层</a:t>
            </a:r>
          </a:p>
        </p:txBody>
      </p:sp>
      <p:sp>
        <p:nvSpPr>
          <p:cNvPr id="20" name="TextBox 12"/>
          <p:cNvSpPr txBox="1"/>
          <p:nvPr/>
        </p:nvSpPr>
        <p:spPr>
          <a:xfrm>
            <a:off x="4888515" y="2416492"/>
            <a:ext cx="241496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患者端·医生端·管理员端</a:t>
            </a:r>
          </a:p>
        </p:txBody>
      </p:sp>
      <p:sp>
        <p:nvSpPr>
          <p:cNvPr id="21" name="TextBox 13"/>
          <p:cNvSpPr txBox="1"/>
          <p:nvPr/>
        </p:nvSpPr>
        <p:spPr>
          <a:xfrm>
            <a:off x="5738431" y="2967609"/>
            <a:ext cx="685800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后端层</a:t>
            </a:r>
          </a:p>
        </p:txBody>
      </p:sp>
      <p:sp>
        <p:nvSpPr>
          <p:cNvPr id="22" name="TextBox 14"/>
          <p:cNvSpPr txBox="1"/>
          <p:nvPr/>
        </p:nvSpPr>
        <p:spPr>
          <a:xfrm>
            <a:off x="9488170" y="3357245"/>
            <a:ext cx="1138555" cy="30162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69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F1012"/>
                </a:solidFill>
                <a:latin typeface="Roboto"/>
                <a:ea typeface="Roboto"/>
              </a:rPr>
              <a:t>Docker Compose</a:t>
            </a:r>
          </a:p>
        </p:txBody>
      </p:sp>
      <p:sp>
        <p:nvSpPr>
          <p:cNvPr id="23" name="TextBox 15"/>
          <p:cNvSpPr txBox="1"/>
          <p:nvPr/>
        </p:nvSpPr>
        <p:spPr>
          <a:xfrm>
            <a:off x="4917852" y="3356673"/>
            <a:ext cx="2327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Spring Boot3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微服务框架</a:t>
            </a:r>
          </a:p>
        </p:txBody>
      </p:sp>
      <p:sp>
        <p:nvSpPr>
          <p:cNvPr id="24" name="TextBox 16"/>
          <p:cNvSpPr txBox="1"/>
          <p:nvPr/>
        </p:nvSpPr>
        <p:spPr>
          <a:xfrm>
            <a:off x="9460515" y="3637216"/>
            <a:ext cx="920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01022D"/>
                </a:solidFill>
                <a:latin typeface="Noto Sans SC" panose="020B0200000000000000" charset="-122"/>
                <a:ea typeface="Noto Sans SC" panose="020B0200000000000000" charset="-122"/>
              </a:rPr>
              <a:t>一键部署</a:t>
            </a:r>
          </a:p>
        </p:txBody>
      </p:sp>
      <p:sp>
        <p:nvSpPr>
          <p:cNvPr id="25" name="TextBox 17"/>
          <p:cNvSpPr txBox="1"/>
          <p:nvPr/>
        </p:nvSpPr>
        <p:spPr>
          <a:xfrm>
            <a:off x="5761624" y="3875704"/>
            <a:ext cx="684371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latin typeface="Noto Sans SC" panose="020B0200000000000000" charset="-122"/>
                <a:ea typeface="Noto Sans SC" panose="020B0200000000000000" charset="-122"/>
              </a:rPr>
              <a:t>智能层</a:t>
            </a:r>
            <a:endParaRPr b="1" i="0" dirty="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18"/>
          <p:cNvSpPr txBox="1"/>
          <p:nvPr/>
        </p:nvSpPr>
        <p:spPr>
          <a:xfrm>
            <a:off x="3892105" y="4310729"/>
            <a:ext cx="4378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规则引擎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|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多智能体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|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RAG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|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知识图谱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|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Harness</a:t>
            </a:r>
          </a:p>
        </p:txBody>
      </p:sp>
      <p:sp>
        <p:nvSpPr>
          <p:cNvPr id="27" name="TextBox 19"/>
          <p:cNvSpPr txBox="1"/>
          <p:nvPr/>
        </p:nvSpPr>
        <p:spPr>
          <a:xfrm>
            <a:off x="5738431" y="4835175"/>
            <a:ext cx="685800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数据层</a:t>
            </a:r>
          </a:p>
        </p:txBody>
      </p:sp>
      <p:sp>
        <p:nvSpPr>
          <p:cNvPr id="28" name="TextBox 20"/>
          <p:cNvSpPr txBox="1"/>
          <p:nvPr/>
        </p:nvSpPr>
        <p:spPr>
          <a:xfrm>
            <a:off x="4390390" y="5259705"/>
            <a:ext cx="3575685" cy="36766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MySQL 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| 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MongoDB 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|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Redis 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|</a:t>
            </a:r>
            <a:r>
              <a:rPr lang="en-US"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16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Qdrant</a:t>
            </a:r>
          </a:p>
          <a:p>
            <a:pPr marL="234950" algn="ctr">
              <a:spcBef>
                <a:spcPts val="1840"/>
              </a:spcBef>
            </a:pPr>
            <a:endParaRPr lang="zh-CN" sz="16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44220" y="1254590"/>
            <a:ext cx="74218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 b="1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  <a:sym typeface="+mn-ea"/>
              </a:rPr>
              <a:t>项目代码主要分为前端、后端服务、智能体和数据存储几部分</a:t>
            </a:r>
            <a:endParaRPr lang="zh-CN" altLang="en-US" sz="20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" panose="020B0200000000000000" charset="-122"/>
              <a:ea typeface="Noto Sans SC" panose="020B0200000000000000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0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919" y="2700909"/>
            <a:ext cx="279488" cy="213169"/>
          </a:xfrm>
          <a:prstGeom prst="rect">
            <a:avLst/>
          </a:prstGeom>
        </p:spPr>
      </p:pic>
      <p:pic>
        <p:nvPicPr>
          <p:cNvPr id="31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8292" y="3633311"/>
            <a:ext cx="250841" cy="212979"/>
          </a:xfrm>
          <a:prstGeom prst="rect">
            <a:avLst/>
          </a:prstGeom>
        </p:spPr>
      </p:pic>
      <p:pic>
        <p:nvPicPr>
          <p:cNvPr id="32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9987" y="4571619"/>
            <a:ext cx="218977" cy="214217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82380" y="2044700"/>
            <a:ext cx="414020" cy="318135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4455160" y="5795010"/>
            <a:ext cx="3637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>
                <a:latin typeface="Noto Sans SC" panose="020B0200000000000000" charset="-122"/>
                <a:ea typeface="Noto Sans SC" panose="020B0200000000000000" charset="-122"/>
                <a:sym typeface="+mn-ea"/>
              </a:rPr>
              <a:t>四层解耦，智能层统一调度AI能力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7340184" y="0"/>
            <a:ext cx="2438400" cy="666750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2" descr="imag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26102" y="3966359"/>
            <a:ext cx="914781" cy="881429"/>
          </a:xfrm>
          <a:prstGeom prst="rect">
            <a:avLst/>
          </a:prstGeom>
        </p:spPr>
      </p:pic>
      <p:pic>
        <p:nvPicPr>
          <p:cNvPr id="13" name="Picture 3" descr="image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64162" y="1946433"/>
            <a:ext cx="857448" cy="824103"/>
          </a:xfrm>
          <a:prstGeom prst="rect">
            <a:avLst/>
          </a:prstGeom>
        </p:spPr>
      </p:pic>
      <p:pic>
        <p:nvPicPr>
          <p:cNvPr id="14" name="Picture 4" descr="image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66392" y="1952258"/>
            <a:ext cx="824960" cy="801117"/>
          </a:xfrm>
          <a:prstGeom prst="rect">
            <a:avLst/>
          </a:prstGeom>
        </p:spPr>
      </p:pic>
      <p:pic>
        <p:nvPicPr>
          <p:cNvPr id="15" name="Picture 5" descr="image.png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70716" y="4039362"/>
            <a:ext cx="838626" cy="748093"/>
          </a:xfrm>
          <a:prstGeom prst="rect">
            <a:avLst/>
          </a:prstGeom>
        </p:spPr>
      </p:pic>
      <p:sp>
        <p:nvSpPr>
          <p:cNvPr id="16" name="TextBox 6"/>
          <p:cNvSpPr txBox="1"/>
          <p:nvPr/>
        </p:nvSpPr>
        <p:spPr>
          <a:xfrm>
            <a:off x="82887" y="729255"/>
            <a:ext cx="4151471" cy="4179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010D3D"/>
                </a:solidFill>
                <a:latin typeface="Noto Sans SC" panose="020B0200000000000000" charset="-122"/>
                <a:ea typeface="Noto Sans SC" panose="020B0200000000000000" charset="-122"/>
              </a:rPr>
              <a:t>技术路线</a:t>
            </a:r>
            <a:r>
              <a:rPr lang="en-US" sz="2800" b="1" i="0" dirty="0">
                <a:solidFill>
                  <a:srgbClr val="010D3D"/>
                </a:solidFill>
                <a:latin typeface="Noto Sans SC" panose="020B0200000000000000" charset="-122"/>
                <a:ea typeface="Noto Sans SC" panose="020B0200000000000000" charset="-122"/>
              </a:rPr>
              <a:t> : </a:t>
            </a:r>
            <a:r>
              <a:rPr sz="2800" b="1" i="0" dirty="0" err="1">
                <a:solidFill>
                  <a:srgbClr val="010D3D"/>
                </a:solidFill>
                <a:latin typeface="Noto Sans SC" panose="020B0200000000000000" charset="-122"/>
                <a:ea typeface="Noto Sans SC" panose="020B0200000000000000" charset="-122"/>
              </a:rPr>
              <a:t>四项核心能力</a:t>
            </a:r>
            <a:endParaRPr sz="2800" b="1" i="0" dirty="0">
              <a:solidFill>
                <a:srgbClr val="010D3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7"/>
          <p:cNvSpPr txBox="1"/>
          <p:nvPr/>
        </p:nvSpPr>
        <p:spPr>
          <a:xfrm>
            <a:off x="1581308" y="2075910"/>
            <a:ext cx="153714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229"/>
                </a:solidFill>
                <a:latin typeface="Noto Sans SC" panose="020B0200000000000000" charset="-122"/>
                <a:ea typeface="Noto Sans SC" panose="020B0200000000000000" charset="-122"/>
              </a:rPr>
              <a:t>多智能体拆分</a:t>
            </a:r>
          </a:p>
        </p:txBody>
      </p:sp>
      <p:sp>
        <p:nvSpPr>
          <p:cNvPr id="19" name="TextBox 8"/>
          <p:cNvSpPr txBox="1"/>
          <p:nvPr/>
        </p:nvSpPr>
        <p:spPr>
          <a:xfrm>
            <a:off x="7721409" y="2075910"/>
            <a:ext cx="235781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 i="0">
                <a:solidFill>
                  <a:srgbClr val="000229"/>
                </a:solidFill>
                <a:latin typeface="Noto Sans SC" panose="020B0200000000000000" charset="-122"/>
                <a:ea typeface="Noto Sans SC" panose="020B0200000000000000" charset="-122"/>
              </a:rPr>
              <a:t>医学知识检索(RAG)</a:t>
            </a:r>
          </a:p>
        </p:txBody>
      </p:sp>
      <p:sp>
        <p:nvSpPr>
          <p:cNvPr id="20" name="TextBox 9"/>
          <p:cNvSpPr txBox="1"/>
          <p:nvPr/>
        </p:nvSpPr>
        <p:spPr>
          <a:xfrm>
            <a:off x="1588770" y="2550795"/>
            <a:ext cx="3676015" cy="79121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Noto Sans SC" panose="020B0200000000000000" charset="-122"/>
                <a:ea typeface="Noto Sans SC" panose="020B0200000000000000" charset="-122"/>
              </a:rPr>
              <a:t>面向复杂慢病任务进行分工协作</a:t>
            </a: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latin typeface="Noto Sans SC" panose="020B0200000000000000" charset="-122"/>
                <a:ea typeface="Noto Sans SC" panose="020B0200000000000000" charset="-122"/>
              </a:rPr>
              <a:t>关键词</a:t>
            </a:r>
            <a:r>
              <a:rPr lang="zh-CN" altLang="en-US" sz="1600">
                <a:latin typeface="Noto Sans SC" panose="020B0200000000000000" charset="-122"/>
                <a:ea typeface="Noto Sans SC" panose="020B0200000000000000" charset="-122"/>
              </a:rPr>
              <a:t>：规则先行、任务拆解、协同执行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7665720" y="2541905"/>
            <a:ext cx="3682365" cy="728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让</a:t>
            </a:r>
            <a:r>
              <a:rPr lang="en-US" altLang="zh-CN" sz="160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AI</a:t>
            </a:r>
            <a:r>
              <a:rPr lang="zh-CN" altLang="en-US" sz="160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先检索权威资料，再生成回答</a:t>
            </a: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关键词</a:t>
            </a:r>
            <a:r>
              <a:rPr lang="zh-CN" altLang="en-US" sz="160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：知识切分、语义检索、证据支撑</a:t>
            </a:r>
          </a:p>
        </p:txBody>
      </p:sp>
      <p:sp>
        <p:nvSpPr>
          <p:cNvPr id="22" name="TextBox 11"/>
          <p:cNvSpPr txBox="1"/>
          <p:nvPr/>
        </p:nvSpPr>
        <p:spPr>
          <a:xfrm>
            <a:off x="1592103" y="3958431"/>
            <a:ext cx="229914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229"/>
                </a:solidFill>
                <a:latin typeface="Noto Sans SC" panose="020B0200000000000000" charset="-122"/>
                <a:ea typeface="Noto Sans SC" panose="020B0200000000000000" charset="-122"/>
              </a:rPr>
              <a:t>知识图谱与视频推荐</a:t>
            </a:r>
            <a:endParaRPr sz="1950" b="1" i="0">
              <a:solidFill>
                <a:srgbClr val="0002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12"/>
          <p:cNvSpPr txBox="1"/>
          <p:nvPr/>
        </p:nvSpPr>
        <p:spPr>
          <a:xfrm>
            <a:off x="7825517" y="3985101"/>
            <a:ext cx="259222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229"/>
                </a:solidFill>
                <a:latin typeface="Noto Sans SC" panose="020B0200000000000000" charset="-122"/>
                <a:ea typeface="Noto Sans SC" panose="020B0200000000000000" charset="-122"/>
              </a:rPr>
              <a:t>AI过程治理(Harness)</a:t>
            </a:r>
            <a:endParaRPr sz="2025" b="1" i="0">
              <a:solidFill>
                <a:srgbClr val="00022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4" name="TextBox 13"/>
          <p:cNvSpPr txBox="1"/>
          <p:nvPr/>
        </p:nvSpPr>
        <p:spPr>
          <a:xfrm>
            <a:off x="1558925" y="4493895"/>
            <a:ext cx="3696970" cy="71564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latin typeface="Noto Sans SC" panose="020B0200000000000000" charset="-122"/>
                <a:ea typeface="Noto Sans SC" panose="020B0200000000000000" charset="-122"/>
              </a:rPr>
              <a:t>连接疾病、文档、视频与主题关系</a:t>
            </a: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latin typeface="Noto Sans SC" panose="020B0200000000000000" charset="-122"/>
                <a:ea typeface="Noto Sans SC" panose="020B0200000000000000" charset="-122"/>
              </a:rPr>
              <a:t>关键词</a:t>
            </a:r>
            <a:r>
              <a:rPr lang="zh-CN" altLang="en-US" sz="1600">
                <a:latin typeface="Noto Sans SC" panose="020B0200000000000000" charset="-122"/>
                <a:ea typeface="Noto Sans SC" panose="020B0200000000000000" charset="-122"/>
              </a:rPr>
              <a:t>：结构关联、内容推荐、个性宣教</a:t>
            </a:r>
          </a:p>
        </p:txBody>
      </p:sp>
      <p:sp>
        <p:nvSpPr>
          <p:cNvPr id="25" name="TextBox 14"/>
          <p:cNvSpPr txBox="1"/>
          <p:nvPr/>
        </p:nvSpPr>
        <p:spPr>
          <a:xfrm>
            <a:off x="7790180" y="4449445"/>
            <a:ext cx="3924935" cy="71564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观测</a:t>
            </a:r>
            <a:r>
              <a:rPr lang="en-US" altLang="zh-CN" sz="160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AI</a:t>
            </a:r>
            <a:r>
              <a:rPr lang="zh-CN" altLang="en-US" sz="160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执行过程并进行边界约束</a:t>
            </a:r>
          </a:p>
          <a:p>
            <a:pPr indent="0" algn="just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关键词</a:t>
            </a:r>
            <a:r>
              <a:rPr lang="zh-CN" altLang="en-US" sz="160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：过程留痕、质量评分、可追溯审计</a:t>
            </a:r>
          </a:p>
        </p:txBody>
      </p:sp>
      <p:sp>
        <p:nvSpPr>
          <p:cNvPr id="26" name="AutoShape 2"/>
          <p:cNvSpPr/>
          <p:nvPr/>
        </p:nvSpPr>
        <p:spPr>
          <a:xfrm>
            <a:off x="6115050" y="1416050"/>
            <a:ext cx="36000" cy="409956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"/>
          <p:cNvSpPr/>
          <p:nvPr/>
        </p:nvSpPr>
        <p:spPr>
          <a:xfrm rot="16200000">
            <a:off x="5984020" y="-1103850"/>
            <a:ext cx="36000" cy="903478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7340184" y="0"/>
            <a:ext cx="2438400" cy="666750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3"/>
          <p:cNvSpPr txBox="1"/>
          <p:nvPr/>
        </p:nvSpPr>
        <p:spPr>
          <a:xfrm>
            <a:off x="88361" y="690505"/>
            <a:ext cx="4980305" cy="482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i="0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核心技术一</a:t>
            </a:r>
            <a:r>
              <a:rPr lang="en-US" altLang="zh-CN" sz="2800" b="1" i="0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: </a:t>
            </a:r>
            <a:r>
              <a:rPr sz="2800" b="1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多智能体协作机制</a:t>
            </a:r>
            <a:endParaRPr sz="2800" b="1" i="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5909977" y="934345"/>
            <a:ext cx="1568005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复杂任务拆分</a:t>
            </a:r>
          </a:p>
        </p:txBody>
      </p:sp>
      <p:sp>
        <p:nvSpPr>
          <p:cNvPr id="14" name="TextBox 5"/>
          <p:cNvSpPr txBox="1"/>
          <p:nvPr/>
        </p:nvSpPr>
        <p:spPr>
          <a:xfrm>
            <a:off x="4869911" y="1371860"/>
            <a:ext cx="2715260" cy="53086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慢病管理中的复杂任务拆分为</a:t>
            </a: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可处理的子任务</a:t>
            </a:r>
            <a:endParaRPr sz="15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5" name="TextBox 7"/>
          <p:cNvSpPr txBox="1"/>
          <p:nvPr/>
        </p:nvSpPr>
        <p:spPr>
          <a:xfrm>
            <a:off x="5909977" y="2013718"/>
            <a:ext cx="1568005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规则引擎先行</a:t>
            </a:r>
            <a:endParaRPr sz="1950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8"/>
          <p:cNvSpPr txBox="1"/>
          <p:nvPr/>
        </p:nvSpPr>
        <p:spPr>
          <a:xfrm>
            <a:off x="4564476" y="2455805"/>
            <a:ext cx="2961640" cy="5016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规则引擎先完成六类慢病风险评估</a:t>
            </a:r>
            <a:r>
              <a:rPr lang="zh-CN" sz="1500" b="0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，</a:t>
            </a:r>
            <a:endParaRPr sz="15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守住底线</a:t>
            </a:r>
            <a:r>
              <a:rPr lang="zh-CN" sz="150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，</a:t>
            </a:r>
            <a:r>
              <a:rPr sz="150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确保基础安全</a:t>
            </a:r>
            <a:endParaRPr sz="15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0"/>
          <p:cNvSpPr txBox="1"/>
          <p:nvPr/>
        </p:nvSpPr>
        <p:spPr>
          <a:xfrm>
            <a:off x="5909977" y="3061626"/>
            <a:ext cx="1568005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多智能体协作</a:t>
            </a:r>
          </a:p>
        </p:txBody>
      </p:sp>
      <p:sp>
        <p:nvSpPr>
          <p:cNvPr id="19" name="TextBox 11"/>
          <p:cNvSpPr txBox="1"/>
          <p:nvPr/>
        </p:nvSpPr>
        <p:spPr>
          <a:xfrm>
            <a:off x="4563206" y="3501650"/>
            <a:ext cx="3021965" cy="6223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sz="1500" b="0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多个specialist智能体协作完成解释</a:t>
            </a:r>
            <a:r>
              <a:rPr lang="zh-CN" sz="1500" b="0" i="0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，</a:t>
            </a:r>
            <a:endParaRPr sz="1500" b="0" i="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sz="150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归纳、个性化建议生成</a:t>
            </a:r>
            <a:endParaRPr sz="1500" b="0" i="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69000"/>
              </a:lnSpc>
              <a:spcBef>
                <a:spcPts val="0"/>
              </a:spcBef>
              <a:spcAft>
                <a:spcPts val="0"/>
              </a:spcAft>
            </a:pPr>
            <a:endParaRPr sz="1500" b="0" i="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" name="TextBox 13"/>
          <p:cNvSpPr txBox="1"/>
          <p:nvPr/>
        </p:nvSpPr>
        <p:spPr>
          <a:xfrm>
            <a:off x="5983764" y="4109440"/>
            <a:ext cx="1538668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ReAct执行器</a:t>
            </a:r>
            <a:endParaRPr sz="1950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14"/>
          <p:cNvSpPr txBox="1"/>
          <p:nvPr/>
        </p:nvSpPr>
        <p:spPr>
          <a:xfrm>
            <a:off x="4442556" y="4581785"/>
            <a:ext cx="3007995" cy="56451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引入ReAct执行器与supervisor机制</a:t>
            </a:r>
            <a:r>
              <a:rPr lang="zh-CN" sz="1500" b="0" i="0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，</a:t>
            </a:r>
            <a:endParaRPr sz="1500" b="0" i="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06375" algn="ctr"/>
            <a:r>
              <a:rPr sz="150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动态规划执行路径</a:t>
            </a:r>
            <a:r>
              <a:rPr lang="zh-CN" sz="1500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，</a:t>
            </a:r>
            <a:r>
              <a:rPr sz="150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异常时重规划</a:t>
            </a:r>
            <a:endParaRPr sz="150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15"/>
          <p:cNvSpPr txBox="1"/>
          <p:nvPr/>
        </p:nvSpPr>
        <p:spPr>
          <a:xfrm>
            <a:off x="6410897" y="5180018"/>
            <a:ext cx="1040415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边界约束</a:t>
            </a:r>
            <a:endParaRPr sz="2025" b="1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16"/>
          <p:cNvSpPr txBox="1"/>
          <p:nvPr/>
        </p:nvSpPr>
        <p:spPr>
          <a:xfrm>
            <a:off x="4488911" y="5586355"/>
            <a:ext cx="3096260" cy="64389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对步骤数、重规划次数、speciali</a:t>
            </a:r>
            <a:r>
              <a:rPr lang="en-US" sz="1500" b="0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s</a:t>
            </a:r>
            <a:r>
              <a:rPr sz="1500" b="0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t</a:t>
            </a:r>
            <a:endParaRPr sz="1500" b="0" i="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数量做边</a:t>
            </a:r>
            <a:r>
              <a:rPr sz="150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界约束</a:t>
            </a:r>
            <a:r>
              <a:rPr lang="zh-CN" sz="1500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，</a:t>
            </a:r>
            <a:r>
              <a:rPr sz="150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确保系统稳定可控</a:t>
            </a:r>
            <a:endParaRPr sz="1500" b="0" i="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75" b="0" i="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24" name="Picture 2" descr="imag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78265" y="2418790"/>
            <a:ext cx="2737485" cy="2589898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67086" y="999750"/>
            <a:ext cx="1127760" cy="51549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imag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89750" y="2336165"/>
            <a:ext cx="4843145" cy="751205"/>
          </a:xfrm>
          <a:prstGeom prst="rect">
            <a:avLst/>
          </a:prstGeom>
        </p:spPr>
      </p:pic>
      <p:pic>
        <p:nvPicPr>
          <p:cNvPr id="12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7" y="4011076"/>
            <a:ext cx="5022342" cy="524153"/>
          </a:xfrm>
          <a:prstGeom prst="rect">
            <a:avLst/>
          </a:prstGeom>
        </p:spPr>
      </p:pic>
      <p:pic>
        <p:nvPicPr>
          <p:cNvPr id="13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27" y="3176488"/>
            <a:ext cx="4879848" cy="523691"/>
          </a:xfrm>
          <a:prstGeom prst="rect">
            <a:avLst/>
          </a:prstGeom>
        </p:spPr>
      </p:pic>
      <p:pic>
        <p:nvPicPr>
          <p:cNvPr id="14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07" y="2339257"/>
            <a:ext cx="4435316" cy="514515"/>
          </a:xfrm>
          <a:prstGeom prst="rect">
            <a:avLst/>
          </a:prstGeom>
        </p:spPr>
      </p:pic>
      <p:pic>
        <p:nvPicPr>
          <p:cNvPr id="15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492" y="4854606"/>
            <a:ext cx="4226907" cy="511778"/>
          </a:xfrm>
          <a:prstGeom prst="rect">
            <a:avLst/>
          </a:prstGeom>
        </p:spPr>
      </p:pic>
      <p:pic>
        <p:nvPicPr>
          <p:cNvPr id="16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740" y="1257490"/>
            <a:ext cx="2347596" cy="714279"/>
          </a:xfrm>
          <a:prstGeom prst="rect">
            <a:avLst/>
          </a:prstGeom>
        </p:spPr>
      </p:pic>
      <p:pic>
        <p:nvPicPr>
          <p:cNvPr id="17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10607" y="1259086"/>
            <a:ext cx="2347436" cy="714230"/>
          </a:xfrm>
          <a:prstGeom prst="rect">
            <a:avLst/>
          </a:prstGeom>
        </p:spPr>
      </p:pic>
      <p:pic>
        <p:nvPicPr>
          <p:cNvPr id="19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6615" y="3424904"/>
            <a:ext cx="960038" cy="203358"/>
          </a:xfrm>
          <a:prstGeom prst="rect">
            <a:avLst/>
          </a:prstGeom>
        </p:spPr>
      </p:pic>
      <p:sp>
        <p:nvSpPr>
          <p:cNvPr id="20" name="TextBox 13"/>
          <p:cNvSpPr txBox="1"/>
          <p:nvPr/>
        </p:nvSpPr>
        <p:spPr>
          <a:xfrm>
            <a:off x="64102" y="726089"/>
            <a:ext cx="5393055" cy="38544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i="0" dirty="0">
                <a:solidFill>
                  <a:srgbClr val="040E3D"/>
                </a:solidFill>
                <a:latin typeface="Noto Sans SC" panose="020B0200000000000000" charset="-122"/>
                <a:ea typeface="Noto Sans SC" panose="020B0200000000000000" charset="-122"/>
              </a:rPr>
              <a:t>核心技术二</a:t>
            </a:r>
            <a:r>
              <a:rPr lang="en-US" altLang="zh-CN" sz="2800" b="1" i="0" dirty="0">
                <a:solidFill>
                  <a:srgbClr val="040E3D"/>
                </a:solidFill>
                <a:latin typeface="Noto Sans SC" panose="020B0200000000000000" charset="-122"/>
                <a:ea typeface="Noto Sans SC" panose="020B0200000000000000" charset="-122"/>
              </a:rPr>
              <a:t> : </a:t>
            </a:r>
            <a:r>
              <a:rPr sz="2800" b="1" i="0" dirty="0" err="1">
                <a:solidFill>
                  <a:srgbClr val="040E3D"/>
                </a:solidFill>
                <a:latin typeface="Noto Sans SC" panose="020B0200000000000000" charset="-122"/>
                <a:ea typeface="Noto Sans SC" panose="020B0200000000000000" charset="-122"/>
              </a:rPr>
              <a:t>RAG与知识图谱能力</a:t>
            </a:r>
            <a:endParaRPr sz="2800" b="1" i="0" dirty="0">
              <a:solidFill>
                <a:srgbClr val="040E3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14"/>
          <p:cNvSpPr txBox="1"/>
          <p:nvPr/>
        </p:nvSpPr>
        <p:spPr>
          <a:xfrm>
            <a:off x="2102834" y="1422431"/>
            <a:ext cx="1743837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022A"/>
                </a:solidFill>
                <a:latin typeface="Noto Sans SC" panose="020B0200000000000000" charset="-122"/>
                <a:ea typeface="Noto Sans SC" panose="020B0200000000000000" charset="-122"/>
              </a:rPr>
              <a:t>RAG知识检索</a:t>
            </a:r>
          </a:p>
        </p:txBody>
      </p:sp>
      <p:sp>
        <p:nvSpPr>
          <p:cNvPr id="22" name="TextBox 15"/>
          <p:cNvSpPr txBox="1"/>
          <p:nvPr/>
        </p:nvSpPr>
        <p:spPr>
          <a:xfrm>
            <a:off x="8667750" y="1413541"/>
            <a:ext cx="1157668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00022A"/>
                </a:solidFill>
                <a:latin typeface="Noto Sans SC" panose="020B0200000000000000" charset="-122"/>
                <a:ea typeface="Noto Sans SC" panose="020B0200000000000000" charset="-122"/>
              </a:rPr>
              <a:t>知识图谱</a:t>
            </a:r>
            <a:endParaRPr sz="21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3" name="TextBox 16"/>
          <p:cNvSpPr txBox="1"/>
          <p:nvPr/>
        </p:nvSpPr>
        <p:spPr>
          <a:xfrm>
            <a:off x="7032180" y="2500820"/>
            <a:ext cx="3793902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219"/>
                </a:solidFill>
                <a:latin typeface="Noto Sans SC" panose="020B0200000000000000" charset="-122"/>
                <a:ea typeface="Noto Sans SC" panose="020B0200000000000000" charset="-122"/>
              </a:rPr>
              <a:t>步骤1:构建</a:t>
            </a:r>
            <a:r>
              <a:rPr lang="en-US" sz="1500" b="0" i="0">
                <a:solidFill>
                  <a:srgbClr val="000219"/>
                </a:solidFill>
                <a:latin typeface="Noto Sans SC" panose="020B0200000000000000" charset="-122"/>
                <a:ea typeface="Noto Sans SC" panose="020B0200000000000000" charset="-122"/>
              </a:rPr>
              <a:t>“</a:t>
            </a:r>
            <a:r>
              <a:rPr sz="1500" b="0" i="0">
                <a:solidFill>
                  <a:srgbClr val="000219"/>
                </a:solidFill>
                <a:latin typeface="Noto Sans SC" panose="020B0200000000000000" charset="-122"/>
                <a:ea typeface="Noto Sans SC" panose="020B0200000000000000" charset="-122"/>
              </a:rPr>
              <a:t>疾病-症状-知识文档-视频-主题</a:t>
            </a:r>
            <a:r>
              <a:rPr lang="en-US" sz="1500" b="0" i="0">
                <a:solidFill>
                  <a:srgbClr val="000219"/>
                </a:solidFill>
                <a:latin typeface="Noto Sans SC" panose="020B0200000000000000" charset="-122"/>
                <a:ea typeface="Noto Sans SC" panose="020B0200000000000000" charset="-122"/>
              </a:rPr>
              <a:t>”</a:t>
            </a:r>
            <a:r>
              <a:rPr lang="zh-CN" altLang="en-US" sz="1500" b="0" i="0">
                <a:solidFill>
                  <a:srgbClr val="000219"/>
                </a:solidFill>
                <a:latin typeface="Noto Sans SC" panose="020B0200000000000000" charset="-122"/>
                <a:ea typeface="Noto Sans SC" panose="020B0200000000000000" charset="-122"/>
              </a:rPr>
              <a:t>关联网络</a:t>
            </a:r>
          </a:p>
        </p:txBody>
      </p:sp>
      <p:sp>
        <p:nvSpPr>
          <p:cNvPr id="24" name="TextBox 17"/>
          <p:cNvSpPr txBox="1"/>
          <p:nvPr/>
        </p:nvSpPr>
        <p:spPr>
          <a:xfrm>
            <a:off x="961263" y="2443162"/>
            <a:ext cx="4114800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18"/>
                </a:solidFill>
                <a:latin typeface="Noto Sans SC" panose="020B0200000000000000" charset="-122"/>
                <a:ea typeface="Noto Sans SC" panose="020B0200000000000000" charset="-122"/>
              </a:rPr>
              <a:t>步骤1:医学指南和健康教育资料切分为知识片段</a:t>
            </a:r>
          </a:p>
        </p:txBody>
      </p:sp>
      <p:sp>
        <p:nvSpPr>
          <p:cNvPr id="25" name="TextBox 19"/>
          <p:cNvSpPr txBox="1"/>
          <p:nvPr/>
        </p:nvSpPr>
        <p:spPr>
          <a:xfrm>
            <a:off x="786193" y="3301174"/>
            <a:ext cx="4552950" cy="2250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18"/>
                </a:solidFill>
                <a:latin typeface="Noto Sans SC" panose="020B0200000000000000" charset="-122"/>
                <a:ea typeface="Noto Sans SC" panose="020B0200000000000000" charset="-122"/>
              </a:rPr>
              <a:t>步骤2:转换为可检索的语义向量,存入Qdrant向量库</a:t>
            </a:r>
            <a:endParaRPr sz="15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1"/>
          <p:cNvSpPr txBox="1"/>
          <p:nvPr/>
        </p:nvSpPr>
        <p:spPr>
          <a:xfrm>
            <a:off x="5591175" y="3667125"/>
            <a:ext cx="1412240" cy="50228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RAG与知识图</a:t>
            </a:r>
            <a:r>
              <a:rPr lang="zh-CN" sz="1460" b="1">
                <a:latin typeface="Noto Sans SC" panose="020B0200000000000000" charset="-122"/>
                <a:ea typeface="Noto Sans SC" panose="020B0200000000000000" charset="-122"/>
              </a:rPr>
              <a:t>谱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460" b="1">
                <a:latin typeface="Noto Sans SC" panose="020B0200000000000000" charset="-122"/>
                <a:ea typeface="Noto Sans SC" panose="020B0200000000000000" charset="-122"/>
              </a:rPr>
              <a:t>互补增强</a:t>
            </a:r>
          </a:p>
        </p:txBody>
      </p:sp>
      <p:sp>
        <p:nvSpPr>
          <p:cNvPr id="27" name="TextBox 22"/>
          <p:cNvSpPr txBox="1"/>
          <p:nvPr/>
        </p:nvSpPr>
        <p:spPr>
          <a:xfrm>
            <a:off x="726852" y="4109307"/>
            <a:ext cx="473030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18"/>
                </a:solidFill>
                <a:latin typeface="Noto Sans SC" panose="020B0200000000000000" charset="-122"/>
                <a:ea typeface="Noto Sans SC" panose="020B0200000000000000" charset="-122"/>
              </a:rPr>
              <a:t>步骤3:用户提问后按权威来源、病种匹配度、相关性排序</a:t>
            </a:r>
          </a:p>
        </p:txBody>
      </p:sp>
      <p:sp>
        <p:nvSpPr>
          <p:cNvPr id="28" name="TextBox 24"/>
          <p:cNvSpPr txBox="1"/>
          <p:nvPr/>
        </p:nvSpPr>
        <p:spPr>
          <a:xfrm>
            <a:off x="1166431" y="4935886"/>
            <a:ext cx="3616547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18"/>
                </a:solidFill>
                <a:latin typeface="Noto Sans SC" panose="020B0200000000000000" charset="-122"/>
                <a:ea typeface="Noto Sans SC" panose="020B0200000000000000" charset="-122"/>
              </a:rPr>
              <a:t>步骤4:补充引用裁决与RAG回归评估能力</a:t>
            </a:r>
            <a:endParaRPr sz="1500" b="0" i="0">
              <a:solidFill>
                <a:srgbClr val="00001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25"/>
          <p:cNvSpPr txBox="1"/>
          <p:nvPr/>
        </p:nvSpPr>
        <p:spPr>
          <a:xfrm>
            <a:off x="8230362" y="5434742"/>
            <a:ext cx="2091118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000015"/>
                </a:solidFill>
                <a:latin typeface="Noto Sans SC" panose="020B0200000000000000" charset="-122"/>
                <a:ea typeface="Noto Sans SC" panose="020B0200000000000000" charset="-122"/>
              </a:rPr>
              <a:t>实现</a:t>
            </a:r>
            <a:r>
              <a:rPr sz="1600" b="0" i="0">
                <a:solidFill>
                  <a:srgbClr val="000015"/>
                </a:solidFill>
                <a:latin typeface="Noto Sans SC" panose="020B0200000000000000" charset="-122"/>
                <a:ea typeface="Noto Sans SC" panose="020B0200000000000000" charset="-122"/>
              </a:rPr>
              <a:t>知识结构化,推荐个性化</a:t>
            </a:r>
            <a:endParaRPr sz="1500" b="0" i="0">
              <a:solidFill>
                <a:srgbClr val="010117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26"/>
          <p:cNvSpPr txBox="1"/>
          <p:nvPr/>
        </p:nvSpPr>
        <p:spPr>
          <a:xfrm>
            <a:off x="2222944" y="5720619"/>
            <a:ext cx="1532762" cy="19288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15"/>
                </a:solidFill>
                <a:latin typeface="Noto Sans SC" panose="020B0200000000000000" charset="-122"/>
                <a:ea typeface="Noto Sans SC" panose="020B0200000000000000" charset="-122"/>
              </a:rPr>
              <a:t>确保回答有据可依</a:t>
            </a:r>
          </a:p>
        </p:txBody>
      </p:sp>
      <p:pic>
        <p:nvPicPr>
          <p:cNvPr id="31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9405" y="1953895"/>
            <a:ext cx="241300" cy="401955"/>
          </a:xfrm>
          <a:prstGeom prst="rect">
            <a:avLst/>
          </a:prstGeom>
        </p:spPr>
      </p:pic>
      <p:pic>
        <p:nvPicPr>
          <p:cNvPr id="32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9405" y="2811145"/>
            <a:ext cx="241300" cy="401955"/>
          </a:xfrm>
          <a:prstGeom prst="rect">
            <a:avLst/>
          </a:prstGeom>
        </p:spPr>
      </p:pic>
      <p:pic>
        <p:nvPicPr>
          <p:cNvPr id="33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9405" y="3651885"/>
            <a:ext cx="241300" cy="401955"/>
          </a:xfrm>
          <a:prstGeom prst="rect">
            <a:avLst/>
          </a:prstGeom>
        </p:spPr>
      </p:pic>
      <p:pic>
        <p:nvPicPr>
          <p:cNvPr id="34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9405" y="4460240"/>
            <a:ext cx="241300" cy="401955"/>
          </a:xfrm>
          <a:prstGeom prst="rect">
            <a:avLst/>
          </a:prstGeom>
        </p:spPr>
      </p:pic>
      <p:pic>
        <p:nvPicPr>
          <p:cNvPr id="35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9405" y="5338445"/>
            <a:ext cx="241300" cy="401955"/>
          </a:xfrm>
          <a:prstGeom prst="rect">
            <a:avLst/>
          </a:prstGeom>
        </p:spPr>
      </p:pic>
      <p:pic>
        <p:nvPicPr>
          <p:cNvPr id="36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9080" y="1952625"/>
            <a:ext cx="241300" cy="401955"/>
          </a:xfrm>
          <a:prstGeom prst="rect">
            <a:avLst/>
          </a:prstGeom>
        </p:spPr>
      </p:pic>
      <p:pic>
        <p:nvPicPr>
          <p:cNvPr id="37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9080" y="3053715"/>
            <a:ext cx="241300" cy="401955"/>
          </a:xfrm>
          <a:prstGeom prst="rect">
            <a:avLst/>
          </a:prstGeom>
        </p:spPr>
      </p:pic>
      <p:pic>
        <p:nvPicPr>
          <p:cNvPr id="38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0190" y="3935730"/>
            <a:ext cx="241300" cy="401955"/>
          </a:xfrm>
          <a:prstGeom prst="rect">
            <a:avLst/>
          </a:prstGeom>
        </p:spPr>
      </p:pic>
      <p:pic>
        <p:nvPicPr>
          <p:cNvPr id="39" name="Picture 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9080" y="4921885"/>
            <a:ext cx="241300" cy="401955"/>
          </a:xfrm>
          <a:prstGeom prst="rect">
            <a:avLst/>
          </a:prstGeom>
        </p:spPr>
      </p:pic>
      <p:pic>
        <p:nvPicPr>
          <p:cNvPr id="40" name="图片 39" descr="ChatGPT Image 2026年6月27日 15_17_38"/>
          <p:cNvPicPr>
            <a:picLocks noChangeAspect="1"/>
          </p:cNvPicPr>
          <p:nvPr/>
        </p:nvPicPr>
        <p:blipFill>
          <a:blip r:embed="rId1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t="30186" b="26497"/>
          <a:stretch>
            <a:fillRect/>
          </a:stretch>
        </p:blipFill>
        <p:spPr>
          <a:xfrm>
            <a:off x="7064375" y="4331970"/>
            <a:ext cx="4554855" cy="68389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7082155" y="4434840"/>
            <a:ext cx="4555490" cy="402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步骤3:结合用户画像推荐个性化宣教视频与知识内</a:t>
            </a:r>
            <a:r>
              <a:rPr lang="zh-CN" sz="150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容</a:t>
            </a:r>
          </a:p>
        </p:txBody>
      </p:sp>
      <p:pic>
        <p:nvPicPr>
          <p:cNvPr id="42" name="图片 41" descr="ChatGPT Image 2026年6月27日 15_20_35"/>
          <p:cNvPicPr>
            <a:picLocks noChangeAspect="1"/>
          </p:cNvPicPr>
          <p:nvPr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612" t="26332" r="687" b="29210"/>
          <a:stretch>
            <a:fillRect/>
          </a:stretch>
        </p:blipFill>
        <p:spPr>
          <a:xfrm>
            <a:off x="7029450" y="3451225"/>
            <a:ext cx="4597400" cy="554990"/>
          </a:xfrm>
          <a:prstGeom prst="rect">
            <a:avLst/>
          </a:prstGeom>
        </p:spPr>
      </p:pic>
      <p:sp>
        <p:nvSpPr>
          <p:cNvPr id="43" name="TextBox 20"/>
          <p:cNvSpPr txBox="1"/>
          <p:nvPr/>
        </p:nvSpPr>
        <p:spPr>
          <a:xfrm>
            <a:off x="7614920" y="3583940"/>
            <a:ext cx="3192780" cy="26225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步骤2:支持结构化医学知识导航与</a:t>
            </a:r>
            <a:r>
              <a:rPr lang="zh-CN" sz="1500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关系</a:t>
            </a:r>
            <a:r>
              <a:rPr sz="1500" b="0" i="0">
                <a:solidFill>
                  <a:srgbClr val="000119"/>
                </a:solidFill>
                <a:latin typeface="Noto Sans SC" panose="020B0200000000000000" charset="-122"/>
                <a:ea typeface="Noto Sans SC" panose="020B0200000000000000" charset="-122"/>
              </a:rPr>
              <a:t>推理</a:t>
            </a: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340184" y="0"/>
            <a:ext cx="2438400" cy="666750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3" descr="imag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64456" y="4354454"/>
            <a:ext cx="3592601" cy="1108710"/>
          </a:xfrm>
          <a:prstGeom prst="rect">
            <a:avLst/>
          </a:prstGeom>
        </p:spPr>
      </p:pic>
      <p:pic>
        <p:nvPicPr>
          <p:cNvPr id="11" name="Picture 3" descr="imag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6710" y="4359592"/>
            <a:ext cx="3592601" cy="1108710"/>
          </a:xfrm>
          <a:prstGeom prst="rect">
            <a:avLst/>
          </a:prstGeom>
        </p:spPr>
      </p:pic>
      <p:pic>
        <p:nvPicPr>
          <p:cNvPr id="12" name="Picture 4" descr="image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00714" y="4362823"/>
            <a:ext cx="3601116" cy="1100341"/>
          </a:xfrm>
          <a:prstGeom prst="rect">
            <a:avLst/>
          </a:prstGeom>
        </p:spPr>
      </p:pic>
      <p:pic>
        <p:nvPicPr>
          <p:cNvPr id="14" name="Picture 6" descr="image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31445" y="1883870"/>
            <a:ext cx="3510248" cy="646874"/>
          </a:xfrm>
          <a:prstGeom prst="rect">
            <a:avLst/>
          </a:prstGeom>
        </p:spPr>
      </p:pic>
      <p:pic>
        <p:nvPicPr>
          <p:cNvPr id="15" name="Picture 7" descr="image.png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36495" y="1884780"/>
            <a:ext cx="1581435" cy="638290"/>
          </a:xfrm>
          <a:prstGeom prst="rect">
            <a:avLst/>
          </a:prstGeom>
        </p:spPr>
      </p:pic>
      <p:pic>
        <p:nvPicPr>
          <p:cNvPr id="16" name="Picture 8" descr="image.png"/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063734" y="1883645"/>
            <a:ext cx="1549431" cy="643609"/>
          </a:xfrm>
          <a:prstGeom prst="rect">
            <a:avLst/>
          </a:prstGeom>
        </p:spPr>
      </p:pic>
      <p:pic>
        <p:nvPicPr>
          <p:cNvPr id="17" name="Picture 9" descr="image.png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84980" y="1900555"/>
            <a:ext cx="1699895" cy="642620"/>
          </a:xfrm>
          <a:prstGeom prst="rect">
            <a:avLst/>
          </a:prstGeom>
        </p:spPr>
      </p:pic>
      <p:pic>
        <p:nvPicPr>
          <p:cNvPr id="19" name="Picture 10" descr="image.png"/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81310" y="1881474"/>
            <a:ext cx="1526190" cy="641855"/>
          </a:xfrm>
          <a:prstGeom prst="rect">
            <a:avLst/>
          </a:prstGeom>
        </p:spPr>
      </p:pic>
      <p:pic>
        <p:nvPicPr>
          <p:cNvPr id="20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7982" y="2101923"/>
            <a:ext cx="267843" cy="196099"/>
          </a:xfrm>
          <a:prstGeom prst="rect">
            <a:avLst/>
          </a:prstGeom>
        </p:spPr>
      </p:pic>
      <p:pic>
        <p:nvPicPr>
          <p:cNvPr id="21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69586" y="2101818"/>
            <a:ext cx="266064" cy="199548"/>
          </a:xfrm>
          <a:prstGeom prst="rect">
            <a:avLst/>
          </a:prstGeom>
        </p:spPr>
      </p:pic>
      <p:pic>
        <p:nvPicPr>
          <p:cNvPr id="22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7096" y="2105722"/>
            <a:ext cx="259937" cy="197359"/>
          </a:xfrm>
          <a:prstGeom prst="rect">
            <a:avLst/>
          </a:prstGeom>
        </p:spPr>
      </p:pic>
      <p:pic>
        <p:nvPicPr>
          <p:cNvPr id="23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6856" y="2103628"/>
            <a:ext cx="253010" cy="196786"/>
          </a:xfrm>
          <a:prstGeom prst="rect">
            <a:avLst/>
          </a:prstGeom>
        </p:spPr>
      </p:pic>
      <p:sp>
        <p:nvSpPr>
          <p:cNvPr id="24" name="TextBox 37"/>
          <p:cNvSpPr txBox="1"/>
          <p:nvPr/>
        </p:nvSpPr>
        <p:spPr>
          <a:xfrm>
            <a:off x="73421" y="729984"/>
            <a:ext cx="5548630" cy="41783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800" b="1" i="0" dirty="0">
                <a:solidFill>
                  <a:srgbClr val="040E3D"/>
                </a:solidFill>
                <a:latin typeface="Noto Sans SC" panose="020B0200000000000000" charset="-122"/>
                <a:ea typeface="Noto Sans SC" panose="020B0200000000000000" charset="-122"/>
              </a:rPr>
              <a:t>核心技术三</a:t>
            </a:r>
            <a:r>
              <a:rPr lang="en-US" altLang="zh-CN" sz="2800" b="1" i="0" dirty="0">
                <a:solidFill>
                  <a:srgbClr val="040E3D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sz="2800" b="1" i="0" dirty="0">
                <a:solidFill>
                  <a:srgbClr val="040E3D"/>
                </a:solidFill>
                <a:latin typeface="Noto Sans SC" panose="020B0200000000000000" charset="-122"/>
                <a:ea typeface="Noto Sans SC" panose="020B0200000000000000" charset="-122"/>
              </a:rPr>
              <a:t>:</a:t>
            </a:r>
            <a:r>
              <a:rPr lang="en-US" altLang="zh-CN" sz="2800" b="1" i="0" dirty="0">
                <a:solidFill>
                  <a:srgbClr val="040E3D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sz="2800" b="1" i="0" dirty="0">
                <a:solidFill>
                  <a:srgbClr val="040E3D"/>
                </a:solidFill>
                <a:latin typeface="Noto Sans SC" panose="020B0200000000000000" charset="-122"/>
                <a:ea typeface="Noto Sans SC" panose="020B0200000000000000" charset="-122"/>
              </a:rPr>
              <a:t>Harness</a:t>
            </a:r>
            <a:r>
              <a:rPr lang="zh-CN" altLang="en-US" sz="2800" b="1" i="0" dirty="0">
                <a:solidFill>
                  <a:srgbClr val="040E3D"/>
                </a:solidFill>
                <a:latin typeface="Noto Sans SC" panose="020B0200000000000000" charset="-122"/>
                <a:ea typeface="Noto Sans SC" panose="020B0200000000000000" charset="-122"/>
              </a:rPr>
              <a:t>过程治理机制</a:t>
            </a:r>
          </a:p>
        </p:txBody>
      </p:sp>
      <p:sp>
        <p:nvSpPr>
          <p:cNvPr id="25" name="TextBox 38"/>
          <p:cNvSpPr txBox="1"/>
          <p:nvPr/>
        </p:nvSpPr>
        <p:spPr>
          <a:xfrm>
            <a:off x="4495165" y="2101850"/>
            <a:ext cx="1273175" cy="47117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DFD"/>
                </a:solidFill>
                <a:latin typeface="Noto Sans SC" panose="020B0200000000000000" charset="-122"/>
                <a:ea typeface="Noto Sans SC" panose="020B0200000000000000" charset="-122"/>
              </a:rPr>
              <a:t>specialist智能</a:t>
            </a:r>
            <a:r>
              <a:rPr sz="1400">
                <a:solidFill>
                  <a:srgbClr val="F4FDFD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体协作</a:t>
            </a:r>
            <a:endParaRPr sz="1400" b="0" i="0">
              <a:solidFill>
                <a:srgbClr val="F4FDFD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400" b="0" i="0">
              <a:solidFill>
                <a:srgbClr val="F4FDF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40"/>
          <p:cNvSpPr txBox="1"/>
          <p:nvPr/>
        </p:nvSpPr>
        <p:spPr>
          <a:xfrm>
            <a:off x="6454140" y="2095500"/>
            <a:ext cx="3083560" cy="24574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sz="1400" b="0" i="0">
                <a:solidFill>
                  <a:srgbClr val="F4FDFD"/>
                </a:solidFill>
                <a:latin typeface="Noto Sans SC" panose="020B0200000000000000" charset="-122"/>
                <a:ea typeface="Noto Sans SC" panose="020B0200000000000000" charset="-122"/>
              </a:rPr>
              <a:t>规则引擎/RAG/</a:t>
            </a:r>
            <a:r>
              <a:rPr sz="1400">
                <a:solidFill>
                  <a:srgbClr val="F4FDFD"/>
                </a:solidFill>
                <a:latin typeface="Noto Sans SC" panose="020B0200000000000000" charset="-122"/>
                <a:ea typeface="Noto Sans SC" panose="020B0200000000000000" charset="-122"/>
              </a:rPr>
              <a:t>知识图谱/外部工具调用</a:t>
            </a:r>
            <a:endParaRPr lang="zh-CN" sz="150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41"/>
          <p:cNvSpPr txBox="1"/>
          <p:nvPr/>
        </p:nvSpPr>
        <p:spPr>
          <a:xfrm>
            <a:off x="2513838" y="2015902"/>
            <a:ext cx="1390650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DFD"/>
                </a:solidFill>
                <a:latin typeface="Noto Sans SC" panose="020B0200000000000000" charset="-122"/>
                <a:ea typeface="Noto Sans SC" panose="020B0200000000000000" charset="-122"/>
              </a:rPr>
              <a:t>主控Agent决策</a:t>
            </a:r>
          </a:p>
        </p:txBody>
      </p:sp>
      <p:sp>
        <p:nvSpPr>
          <p:cNvPr id="28" name="TextBox 42"/>
          <p:cNvSpPr txBox="1"/>
          <p:nvPr/>
        </p:nvSpPr>
        <p:spPr>
          <a:xfrm>
            <a:off x="806862" y="2034444"/>
            <a:ext cx="1184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DFD"/>
                </a:solidFill>
                <a:latin typeface="Noto Sans SC" panose="020B0200000000000000" charset="-122"/>
                <a:ea typeface="Noto Sans SC" panose="020B0200000000000000" charset="-122"/>
              </a:rPr>
              <a:t>用户请求输入</a:t>
            </a:r>
            <a:endParaRPr sz="1500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43"/>
          <p:cNvSpPr txBox="1"/>
          <p:nvPr/>
        </p:nvSpPr>
        <p:spPr>
          <a:xfrm>
            <a:off x="10232167" y="2074672"/>
            <a:ext cx="1211865" cy="2249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DFD"/>
                </a:solidFill>
                <a:latin typeface="Noto Sans SC" panose="020B0200000000000000" charset="-122"/>
                <a:ea typeface="Noto Sans SC" panose="020B0200000000000000" charset="-122"/>
              </a:rPr>
              <a:t>最终回答生成</a:t>
            </a:r>
            <a:endParaRPr sz="1575" b="0" i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0" name="TextBox 45"/>
          <p:cNvSpPr txBox="1"/>
          <p:nvPr/>
        </p:nvSpPr>
        <p:spPr>
          <a:xfrm>
            <a:off x="613410" y="2738755"/>
            <a:ext cx="1543050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Harness观测链</a:t>
            </a:r>
            <a:endParaRPr lang="zh-CN" altLang="en-US" b="0" i="0">
              <a:solidFill>
                <a:srgbClr val="00000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56"/>
          <p:cNvSpPr txBox="1"/>
          <p:nvPr/>
        </p:nvSpPr>
        <p:spPr>
          <a:xfrm>
            <a:off x="579596" y="3845782"/>
            <a:ext cx="206473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Harness技术价值</a:t>
            </a:r>
          </a:p>
        </p:txBody>
      </p:sp>
      <p:sp>
        <p:nvSpPr>
          <p:cNvPr id="32" name="TextBox 57"/>
          <p:cNvSpPr txBox="1"/>
          <p:nvPr/>
        </p:nvSpPr>
        <p:spPr>
          <a:xfrm>
            <a:off x="1781937" y="4494466"/>
            <a:ext cx="1184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黑盒变透明:</a:t>
            </a:r>
          </a:p>
        </p:txBody>
      </p:sp>
      <p:sp>
        <p:nvSpPr>
          <p:cNvPr id="33" name="TextBox 58"/>
          <p:cNvSpPr txBox="1"/>
          <p:nvPr/>
        </p:nvSpPr>
        <p:spPr>
          <a:xfrm>
            <a:off x="5474684" y="4494466"/>
            <a:ext cx="1184052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执行更安全:</a:t>
            </a:r>
            <a:endParaRPr sz="1725" b="0" i="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59"/>
          <p:cNvSpPr txBox="1"/>
          <p:nvPr/>
        </p:nvSpPr>
        <p:spPr>
          <a:xfrm>
            <a:off x="9196768" y="4494466"/>
            <a:ext cx="1213294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优</a:t>
            </a:r>
            <a:r>
              <a:rPr b="1" i="0">
                <a:solidFill>
                  <a:srgbClr val="FEFEFE"/>
                </a:solidFill>
                <a:latin typeface="Noto Sans SC" panose="020B0200000000000000" charset="-122"/>
                <a:ea typeface="Noto Sans SC" panose="020B0200000000000000" charset="-122"/>
              </a:rPr>
              <a:t>化有依据:</a:t>
            </a:r>
          </a:p>
        </p:txBody>
      </p:sp>
      <p:sp>
        <p:nvSpPr>
          <p:cNvPr id="35" name="TextBox 60"/>
          <p:cNvSpPr txBox="1"/>
          <p:nvPr/>
        </p:nvSpPr>
        <p:spPr>
          <a:xfrm>
            <a:off x="1068863" y="4848193"/>
            <a:ext cx="2730341" cy="47148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0" b="0" i="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把多智能体协作过程转为可查</a:t>
            </a:r>
          </a:p>
          <a:p>
            <a:pPr marL="236220" algn="ctr"/>
            <a:r>
              <a:rPr sz="1460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看、可解释的执行轨迹</a:t>
            </a:r>
          </a:p>
        </p:txBody>
      </p:sp>
      <p:sp>
        <p:nvSpPr>
          <p:cNvPr id="36" name="TextBox 61"/>
          <p:cNvSpPr txBox="1"/>
          <p:nvPr/>
        </p:nvSpPr>
        <p:spPr>
          <a:xfrm>
            <a:off x="4662170" y="4848225"/>
            <a:ext cx="2797175" cy="61493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b="0" i="0" dirty="0" err="1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通过风险标记与边界约束控制</a:t>
            </a:r>
            <a:endParaRPr sz="1460" b="0" i="0" dirty="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60" dirty="0" err="1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协作过程，降低失控风险</a:t>
            </a:r>
            <a:endParaRPr sz="1425" b="0" i="0" dirty="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425" b="0" i="0" dirty="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7" name="TextBox 62"/>
          <p:cNvSpPr txBox="1"/>
          <p:nvPr/>
        </p:nvSpPr>
        <p:spPr>
          <a:xfrm>
            <a:off x="8347075" y="4831080"/>
            <a:ext cx="2942590" cy="46926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sz="1460" b="0" i="0" dirty="0" err="1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</a:rPr>
              <a:t>通过过程评分与案例复盘，为后续</a:t>
            </a:r>
            <a:r>
              <a:rPr sz="1460" dirty="0" err="1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系统</a:t>
            </a:r>
            <a:endParaRPr sz="1460" dirty="0">
              <a:solidFill>
                <a:srgbClr val="FDFEFE"/>
              </a:solidFill>
              <a:latin typeface="Noto Sans SC" panose="020B0200000000000000" charset="-122"/>
              <a:ea typeface="Noto Sans SC" panose="020B0200000000000000" charset="-122"/>
              <a:sym typeface="+mn-ea"/>
            </a:endParaRPr>
          </a:p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sz="1460" dirty="0" err="1">
                <a:solidFill>
                  <a:srgbClr val="FDFEFE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调优提供量化支撑</a:t>
            </a:r>
            <a:endParaRPr sz="1500" b="0" i="0" dirty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endParaRPr sz="1500" b="0" i="0" dirty="0">
              <a:solidFill>
                <a:srgbClr val="FEFEFE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8" name="TextBox 65"/>
          <p:cNvSpPr txBox="1"/>
          <p:nvPr/>
        </p:nvSpPr>
        <p:spPr>
          <a:xfrm>
            <a:off x="2107500" y="5616728"/>
            <a:ext cx="8319770" cy="37528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00" b="0" i="0" dirty="0" err="1">
                <a:solidFill>
                  <a:srgbClr val="475B8B"/>
                </a:solidFill>
                <a:latin typeface="Noto Sans SC" panose="020B0200000000000000" charset="-122"/>
                <a:ea typeface="Noto Sans SC" panose="020B0200000000000000" charset="-122"/>
              </a:rPr>
              <a:t>在医智联中</a:t>
            </a:r>
            <a:r>
              <a:rPr lang="zh-CN" sz="1800" b="0" i="0" dirty="0">
                <a:solidFill>
                  <a:srgbClr val="475B8B"/>
                </a:solidFill>
                <a:latin typeface="Noto Sans SC" panose="020B0200000000000000" charset="-122"/>
                <a:ea typeface="Noto Sans SC" panose="020B0200000000000000" charset="-122"/>
              </a:rPr>
              <a:t>，</a:t>
            </a:r>
            <a:r>
              <a:rPr sz="1800" b="0" i="0" dirty="0" err="1">
                <a:solidFill>
                  <a:srgbClr val="475B8B"/>
                </a:solidFill>
                <a:latin typeface="Noto Sans SC" panose="020B0200000000000000" charset="-122"/>
                <a:ea typeface="Noto Sans SC" panose="020B0200000000000000" charset="-122"/>
              </a:rPr>
              <a:t>Harness承担的是AI过程治理基础设施角色，而不是普通日志展示工具</a:t>
            </a:r>
            <a:r>
              <a:rPr sz="1800" b="0" i="0" dirty="0">
                <a:solidFill>
                  <a:srgbClr val="475B8B"/>
                </a:solidFill>
                <a:latin typeface="Noto Sans SC" panose="020B0200000000000000" charset="-122"/>
                <a:ea typeface="Noto Sans SC" panose="020B0200000000000000" charset="-122"/>
              </a:rPr>
              <a:t>。</a:t>
            </a:r>
          </a:p>
        </p:txBody>
      </p:sp>
      <p:pic>
        <p:nvPicPr>
          <p:cNvPr id="39" name="Picture 2" descr="image.png"/>
          <p:cNvPicPr>
            <a:picLocks noChangeAspect="1"/>
          </p:cNvPicPr>
          <p:nvPr/>
        </p:nvPicPr>
        <p:blipFill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06905" y="3166110"/>
            <a:ext cx="8680450" cy="600075"/>
          </a:xfrm>
          <a:prstGeom prst="rect">
            <a:avLst/>
          </a:prstGeom>
        </p:spPr>
      </p:pic>
      <p:pic>
        <p:nvPicPr>
          <p:cNvPr id="40" name="Picture 28" descr="image.png"/>
          <p:cNvPicPr>
            <a:picLocks noChangeAspect="1"/>
          </p:cNvPicPr>
          <p:nvPr/>
        </p:nvPicPr>
        <p:blipFill>
          <a:blip r:embed="rId1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65961" y="3365495"/>
            <a:ext cx="246316" cy="180000"/>
          </a:xfrm>
          <a:prstGeom prst="rect">
            <a:avLst/>
          </a:prstGeom>
        </p:spPr>
      </p:pic>
      <p:pic>
        <p:nvPicPr>
          <p:cNvPr id="41" name="Picture 29" descr="image.png"/>
          <p:cNvPicPr>
            <a:picLocks noChangeAspect="1"/>
          </p:cNvPicPr>
          <p:nvPr/>
        </p:nvPicPr>
        <p:blipFill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00857" y="3370516"/>
            <a:ext cx="242388" cy="185356"/>
          </a:xfrm>
          <a:prstGeom prst="rect">
            <a:avLst/>
          </a:prstGeom>
        </p:spPr>
      </p:pic>
      <p:sp>
        <p:nvSpPr>
          <p:cNvPr id="42" name="TextBox 46"/>
          <p:cNvSpPr txBox="1"/>
          <p:nvPr/>
        </p:nvSpPr>
        <p:spPr>
          <a:xfrm>
            <a:off x="2016125" y="3286760"/>
            <a:ext cx="949960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11046"/>
                </a:solidFill>
                <a:latin typeface="Noto Sans SC" panose="020B0200000000000000" charset="-122"/>
                <a:ea typeface="Noto Sans SC" panose="020B0200000000000000" charset="-122"/>
              </a:rPr>
              <a:t>步骤留痕</a:t>
            </a:r>
          </a:p>
        </p:txBody>
      </p:sp>
      <p:sp>
        <p:nvSpPr>
          <p:cNvPr id="43" name="TextBox 47"/>
          <p:cNvSpPr txBox="1"/>
          <p:nvPr/>
        </p:nvSpPr>
        <p:spPr>
          <a:xfrm>
            <a:off x="4566126" y="3277870"/>
            <a:ext cx="861631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3000"/>
              </a:lnSpc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011046"/>
                </a:solidFill>
                <a:latin typeface="Noto Sans SC" panose="020B0200000000000000" charset="-122"/>
                <a:ea typeface="Noto Sans SC" panose="020B0200000000000000" charset="-122"/>
              </a:rPr>
              <a:t>证据绑定</a:t>
            </a:r>
          </a:p>
        </p:txBody>
      </p:sp>
      <p:sp>
        <p:nvSpPr>
          <p:cNvPr id="44" name="TextBox 48"/>
          <p:cNvSpPr txBox="1"/>
          <p:nvPr/>
        </p:nvSpPr>
        <p:spPr>
          <a:xfrm>
            <a:off x="5799455" y="3304540"/>
            <a:ext cx="1067435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i="0">
                <a:solidFill>
                  <a:srgbClr val="011046"/>
                </a:solidFill>
                <a:latin typeface="Noto Sans SC" panose="020B0200000000000000" charset="-122"/>
                <a:ea typeface="Noto Sans SC" panose="020B0200000000000000" charset="-122"/>
              </a:rPr>
              <a:t>风险标记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3197860" y="3268980"/>
            <a:ext cx="1157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>
                <a:solidFill>
                  <a:srgbClr val="011046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工具记录</a:t>
            </a:r>
            <a:endParaRPr lang="zh-CN" altLang="en-US"/>
          </a:p>
        </p:txBody>
      </p:sp>
      <p:pic>
        <p:nvPicPr>
          <p:cNvPr id="46" name="Picture 29" descr="image.png"/>
          <p:cNvPicPr>
            <a:picLocks noChangeAspect="1"/>
          </p:cNvPicPr>
          <p:nvPr/>
        </p:nvPicPr>
        <p:blipFill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90702" y="3356546"/>
            <a:ext cx="242388" cy="185356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8281035" y="3281045"/>
            <a:ext cx="1109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>
                <a:solidFill>
                  <a:srgbClr val="011046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质量评分</a:t>
            </a:r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9471025" y="3268980"/>
            <a:ext cx="1137285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>
                <a:solidFill>
                  <a:srgbClr val="011046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复盘分析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9" name="Picture 29" descr="image.png"/>
          <p:cNvPicPr>
            <a:picLocks noChangeAspect="1"/>
          </p:cNvPicPr>
          <p:nvPr/>
        </p:nvPicPr>
        <p:blipFill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02452" y="3376231"/>
            <a:ext cx="242388" cy="185356"/>
          </a:xfrm>
          <a:prstGeom prst="rect">
            <a:avLst/>
          </a:prstGeom>
        </p:spPr>
      </p:pic>
      <p:pic>
        <p:nvPicPr>
          <p:cNvPr id="50" name="Picture 29" descr="image.png"/>
          <p:cNvPicPr>
            <a:picLocks noChangeAspect="1"/>
          </p:cNvPicPr>
          <p:nvPr/>
        </p:nvPicPr>
        <p:blipFill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93077" y="3358451"/>
            <a:ext cx="242388" cy="185356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7003415" y="3251200"/>
            <a:ext cx="1144270" cy="403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>
                <a:solidFill>
                  <a:srgbClr val="011046"/>
                </a:solidFill>
                <a:latin typeface="Noto Sans SC" panose="020B0200000000000000" charset="-122"/>
                <a:ea typeface="Noto Sans SC" panose="020B0200000000000000" charset="-122"/>
              </a:rPr>
              <a:t>边界状态</a:t>
            </a:r>
          </a:p>
        </p:txBody>
      </p:sp>
      <p:pic>
        <p:nvPicPr>
          <p:cNvPr id="52" name="Picture 29" descr="image.png"/>
          <p:cNvPicPr>
            <a:picLocks noChangeAspect="1"/>
          </p:cNvPicPr>
          <p:nvPr/>
        </p:nvPicPr>
        <p:blipFill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72127" y="3376231"/>
            <a:ext cx="242388" cy="185356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541020" y="1269365"/>
            <a:ext cx="2103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Harness</a:t>
            </a:r>
            <a:r>
              <a:rPr lang="zh-CN" altLang="en-US" b="1" dirty="0"/>
              <a:t>原理流程</a:t>
            </a: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340184" y="0"/>
            <a:ext cx="2438400" cy="666750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7340184" y="0"/>
            <a:ext cx="2438400" cy="666750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3200" y="823595"/>
            <a:ext cx="3408045" cy="45021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i="0">
                <a:solidFill>
                  <a:srgbClr val="030D40"/>
                </a:solidFill>
                <a:latin typeface="Noto Sans SC" panose="020B0200000000000000" charset="-122"/>
                <a:ea typeface="Noto Sans SC" panose="020B0200000000000000" charset="-122"/>
              </a:rPr>
              <a:t>隐私安全与合规保障</a:t>
            </a:r>
            <a:endParaRPr lang="zh-CN" altLang="en-US" sz="2800" b="1" i="0" dirty="0">
              <a:solidFill>
                <a:srgbClr val="030D4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3818118" y="5109052"/>
            <a:ext cx="8132774" cy="942975"/>
          </a:xfrm>
          <a:prstGeom prst="roundRect">
            <a:avLst>
              <a:gd name="adj" fmla="val 13115"/>
            </a:avLst>
          </a:prstGeom>
          <a:solidFill>
            <a:srgbClr val="FBF6F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14078" y="5278550"/>
            <a:ext cx="603978" cy="603978"/>
          </a:xfrm>
          <a:prstGeom prst="rect">
            <a:avLst/>
          </a:prstGeom>
        </p:spPr>
      </p:pic>
      <p:sp>
        <p:nvSpPr>
          <p:cNvPr id="19" name="矩形 18"/>
          <p:cNvSpPr>
            <a:spLocks noGrp="1"/>
          </p:cNvSpPr>
          <p:nvPr/>
        </p:nvSpPr>
        <p:spPr>
          <a:xfrm>
            <a:off x="3432749" y="5265722"/>
            <a:ext cx="6093502" cy="5163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123F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45307" y="5288151"/>
            <a:ext cx="72055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医智联通过 “权限控制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数据最小化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导入治理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+ Harness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审计 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+ 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医疗边界约束”，提升慢病管理场景下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600" dirty="0">
                <a:latin typeface="微软雅黑" panose="020B0503020204020204" charset="-122"/>
                <a:ea typeface="微软雅黑" panose="020B0503020204020204" charset="-122"/>
              </a:rPr>
              <a:t>使用的安全性、可追溯性与可信度。</a:t>
            </a:r>
          </a:p>
        </p:txBody>
      </p:sp>
      <p:sp>
        <p:nvSpPr>
          <p:cNvPr id="49" name="矩形: 圆角 48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340433" y="841271"/>
            <a:ext cx="2561758" cy="1945864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CD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: 圆角 5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376964" y="2961656"/>
            <a:ext cx="2561758" cy="1945864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78C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: 圆角 5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577246" y="836691"/>
            <a:ext cx="2561758" cy="1945864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D7946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: 圆角 5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577246" y="2970816"/>
            <a:ext cx="2561758" cy="1945864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CD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: 圆角 5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814059" y="836691"/>
            <a:ext cx="2561758" cy="1945864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CD29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: 圆角 57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814059" y="2966236"/>
            <a:ext cx="2561758" cy="1945864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E78C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34917" y="864144"/>
            <a:ext cx="559634" cy="631846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34917" y="3099264"/>
            <a:ext cx="581850" cy="652074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0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90920" y="918376"/>
            <a:ext cx="566818" cy="577614"/>
          </a:xfrm>
          <a:prstGeom prst="rect">
            <a:avLst/>
          </a:prstGeom>
        </p:spPr>
      </p:pic>
      <p:pic>
        <p:nvPicPr>
          <p:cNvPr id="69" name="图片 6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34965" y="3099264"/>
            <a:ext cx="478728" cy="576532"/>
          </a:xfrm>
          <a:prstGeom prst="rect">
            <a:avLst/>
          </a:prstGeom>
        </p:spPr>
      </p:pic>
      <p:pic>
        <p:nvPicPr>
          <p:cNvPr id="71" name="图片 7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420506" y="887634"/>
            <a:ext cx="536744" cy="584866"/>
          </a:xfrm>
          <a:prstGeom prst="rect">
            <a:avLst/>
          </a:prstGeom>
        </p:spPr>
      </p:pic>
      <p:pic>
        <p:nvPicPr>
          <p:cNvPr id="73" name="图片 7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448402" y="3154028"/>
            <a:ext cx="508848" cy="542546"/>
          </a:xfrm>
          <a:prstGeom prst="rect">
            <a:avLst/>
          </a:prstGeom>
        </p:spPr>
      </p:pic>
      <p:sp>
        <p:nvSpPr>
          <p:cNvPr id="74" name="文本框 73"/>
          <p:cNvSpPr txBox="1"/>
          <p:nvPr>
            <p:custDataLst>
              <p:tags r:id="rId13"/>
            </p:custDataLst>
          </p:nvPr>
        </p:nvSpPr>
        <p:spPr>
          <a:xfrm>
            <a:off x="4436493" y="1048931"/>
            <a:ext cx="1881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身份认证与角色隔离</a:t>
            </a:r>
          </a:p>
        </p:txBody>
      </p:sp>
      <p:sp>
        <p:nvSpPr>
          <p:cNvPr id="75" name="文本框 74"/>
          <p:cNvSpPr txBox="1"/>
          <p:nvPr>
            <p:custDataLst>
              <p:tags r:id="rId14"/>
            </p:custDataLst>
          </p:nvPr>
        </p:nvSpPr>
        <p:spPr>
          <a:xfrm>
            <a:off x="4436492" y="3272968"/>
            <a:ext cx="1881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临床数据导入治理</a:t>
            </a:r>
          </a:p>
        </p:txBody>
      </p:sp>
      <p:sp>
        <p:nvSpPr>
          <p:cNvPr id="76" name="文本框 75"/>
          <p:cNvSpPr txBox="1"/>
          <p:nvPr>
            <p:custDataLst>
              <p:tags r:id="rId15"/>
            </p:custDataLst>
          </p:nvPr>
        </p:nvSpPr>
        <p:spPr>
          <a:xfrm>
            <a:off x="7213693" y="1026178"/>
            <a:ext cx="1881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患者数据最小化使用</a:t>
            </a:r>
          </a:p>
        </p:txBody>
      </p:sp>
      <p:sp>
        <p:nvSpPr>
          <p:cNvPr id="77" name="文本框 76"/>
          <p:cNvSpPr txBox="1"/>
          <p:nvPr>
            <p:custDataLst>
              <p:tags r:id="rId16"/>
            </p:custDataLst>
          </p:nvPr>
        </p:nvSpPr>
        <p:spPr>
          <a:xfrm>
            <a:off x="9957250" y="1026178"/>
            <a:ext cx="2146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信息脱敏与边界控制</a:t>
            </a:r>
          </a:p>
        </p:txBody>
      </p:sp>
      <p:sp>
        <p:nvSpPr>
          <p:cNvPr id="78" name="文本框 77"/>
          <p:cNvSpPr txBox="1"/>
          <p:nvPr>
            <p:custDataLst>
              <p:tags r:id="rId17"/>
            </p:custDataLst>
          </p:nvPr>
        </p:nvSpPr>
        <p:spPr>
          <a:xfrm>
            <a:off x="7213692" y="3271249"/>
            <a:ext cx="1881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过程留痕与证据绑定</a:t>
            </a:r>
          </a:p>
        </p:txBody>
      </p:sp>
      <p:sp>
        <p:nvSpPr>
          <p:cNvPr id="79" name="文本框 78"/>
          <p:cNvSpPr txBox="1"/>
          <p:nvPr>
            <p:custDataLst>
              <p:tags r:id="rId18"/>
            </p:custDataLst>
          </p:nvPr>
        </p:nvSpPr>
        <p:spPr>
          <a:xfrm>
            <a:off x="9957250" y="3271248"/>
            <a:ext cx="1881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医疗辅助与定位声明</a:t>
            </a:r>
          </a:p>
        </p:txBody>
      </p:sp>
      <p:sp>
        <p:nvSpPr>
          <p:cNvPr id="80" name="文本框 79"/>
          <p:cNvSpPr txBox="1"/>
          <p:nvPr>
            <p:custDataLst>
              <p:tags r:id="rId19"/>
            </p:custDataLst>
          </p:nvPr>
        </p:nvSpPr>
        <p:spPr>
          <a:xfrm>
            <a:off x="3934917" y="1540389"/>
            <a:ext cx="2440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区分患者、医生、管理员角色，结合登录认证与权限校验，限制用户仅访问授权数据和功能。</a:t>
            </a:r>
          </a:p>
        </p:txBody>
      </p:sp>
      <p:sp>
        <p:nvSpPr>
          <p:cNvPr id="83" name="文本框 82"/>
          <p:cNvSpPr txBox="1"/>
          <p:nvPr>
            <p:custDataLst>
              <p:tags r:id="rId20"/>
            </p:custDataLst>
          </p:nvPr>
        </p:nvSpPr>
        <p:spPr>
          <a:xfrm>
            <a:off x="6654059" y="1540389"/>
            <a:ext cx="2440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回答仅调用必要健康指标、近期记录、风险等级和知识片段，减少无关身份信息进入模型。</a:t>
            </a:r>
          </a:p>
        </p:txBody>
      </p:sp>
      <p:sp>
        <p:nvSpPr>
          <p:cNvPr id="84" name="文本框 83"/>
          <p:cNvSpPr txBox="1"/>
          <p:nvPr>
            <p:custDataLst>
              <p:tags r:id="rId21"/>
            </p:custDataLst>
          </p:nvPr>
        </p:nvSpPr>
        <p:spPr>
          <a:xfrm>
            <a:off x="9497822" y="1540389"/>
            <a:ext cx="2440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对姓名、联系方式、身份证号等敏感字段脱敏；高风险医疗问题提示线下就医或医生确认。</a:t>
            </a:r>
          </a:p>
        </p:txBody>
      </p:sp>
      <p:sp>
        <p:nvSpPr>
          <p:cNvPr id="85" name="文本框 84"/>
          <p:cNvSpPr txBox="1"/>
          <p:nvPr>
            <p:custDataLst>
              <p:tags r:id="rId22"/>
            </p:custDataLst>
          </p:nvPr>
        </p:nvSpPr>
        <p:spPr>
          <a:xfrm>
            <a:off x="3934917" y="3769369"/>
            <a:ext cx="2440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OCR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病历和设备数据导入支持去重、重试、超时告警和死信处理，降低数据错误传播风险。</a:t>
            </a:r>
          </a:p>
        </p:txBody>
      </p:sp>
      <p:sp>
        <p:nvSpPr>
          <p:cNvPr id="86" name="文本框 85"/>
          <p:cNvSpPr txBox="1"/>
          <p:nvPr>
            <p:custDataLst>
              <p:tags r:id="rId23"/>
            </p:custDataLst>
          </p:nvPr>
        </p:nvSpPr>
        <p:spPr>
          <a:xfrm>
            <a:off x="6690920" y="3745012"/>
            <a:ext cx="2440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Harness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记录执行步骤、工具调用、证据检索、风险标记和评分，实现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回答可追溯。</a:t>
            </a:r>
          </a:p>
        </p:txBody>
      </p:sp>
      <p:sp>
        <p:nvSpPr>
          <p:cNvPr id="87" name="文本框 86"/>
          <p:cNvSpPr txBox="1"/>
          <p:nvPr>
            <p:custDataLst>
              <p:tags r:id="rId24"/>
            </p:custDataLst>
          </p:nvPr>
        </p:nvSpPr>
        <p:spPr>
          <a:xfrm>
            <a:off x="9497822" y="3769368"/>
            <a:ext cx="2440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平台仅作慢病管理辅助工具，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用于风险提示、健康宣教和随访支持，不替代医生诊断。</a:t>
            </a:r>
          </a:p>
        </p:txBody>
      </p:sp>
      <p:sp>
        <p:nvSpPr>
          <p:cNvPr id="88" name="矩形: 圆角 87"/>
          <p:cNvSpPr>
            <a:spLocks noGrp="1"/>
          </p:cNvSpPr>
          <p:nvPr/>
        </p:nvSpPr>
        <p:spPr>
          <a:xfrm>
            <a:off x="479693" y="1444529"/>
            <a:ext cx="2672453" cy="450215"/>
          </a:xfrm>
          <a:prstGeom prst="roundRect">
            <a:avLst>
              <a:gd name="adj" fmla="val 1951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登录认证</a:t>
            </a:r>
          </a:p>
        </p:txBody>
      </p:sp>
      <p:sp>
        <p:nvSpPr>
          <p:cNvPr id="89" name="矩形: 圆角 88"/>
          <p:cNvSpPr>
            <a:spLocks noGrp="1"/>
          </p:cNvSpPr>
          <p:nvPr/>
        </p:nvSpPr>
        <p:spPr>
          <a:xfrm>
            <a:off x="479693" y="2037361"/>
            <a:ext cx="2672453" cy="450215"/>
          </a:xfrm>
          <a:prstGeom prst="roundRect">
            <a:avLst>
              <a:gd name="adj" fmla="val 1951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角色权限校验</a:t>
            </a:r>
          </a:p>
        </p:txBody>
      </p:sp>
      <p:sp>
        <p:nvSpPr>
          <p:cNvPr id="90" name="矩形: 圆角 89"/>
          <p:cNvSpPr>
            <a:spLocks noGrp="1"/>
          </p:cNvSpPr>
          <p:nvPr/>
        </p:nvSpPr>
        <p:spPr>
          <a:xfrm>
            <a:off x="484274" y="2630193"/>
            <a:ext cx="2672453" cy="450215"/>
          </a:xfrm>
          <a:prstGeom prst="roundRect">
            <a:avLst>
              <a:gd name="adj" fmla="val 1951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数据最小化</a:t>
            </a:r>
          </a:p>
        </p:txBody>
      </p:sp>
      <p:sp>
        <p:nvSpPr>
          <p:cNvPr id="91" name="矩形: 圆角 90"/>
          <p:cNvSpPr>
            <a:spLocks noGrp="1"/>
          </p:cNvSpPr>
          <p:nvPr/>
        </p:nvSpPr>
        <p:spPr>
          <a:xfrm>
            <a:off x="471914" y="3223294"/>
            <a:ext cx="2672453" cy="450215"/>
          </a:xfrm>
          <a:prstGeom prst="roundRect">
            <a:avLst>
              <a:gd name="adj" fmla="val 1951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调用边界控制</a:t>
            </a:r>
          </a:p>
        </p:txBody>
      </p:sp>
      <p:sp>
        <p:nvSpPr>
          <p:cNvPr id="92" name="矩形: 圆角 91"/>
          <p:cNvSpPr>
            <a:spLocks noGrp="1"/>
          </p:cNvSpPr>
          <p:nvPr/>
        </p:nvSpPr>
        <p:spPr>
          <a:xfrm>
            <a:off x="479692" y="3815857"/>
            <a:ext cx="2672453" cy="450215"/>
          </a:xfrm>
          <a:prstGeom prst="roundRect">
            <a:avLst>
              <a:gd name="adj" fmla="val 1951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过程留痕</a:t>
            </a:r>
          </a:p>
        </p:txBody>
      </p:sp>
      <p:sp>
        <p:nvSpPr>
          <p:cNvPr id="93" name="矩形: 圆角 92"/>
          <p:cNvSpPr>
            <a:spLocks noGrp="1"/>
          </p:cNvSpPr>
          <p:nvPr/>
        </p:nvSpPr>
        <p:spPr>
          <a:xfrm>
            <a:off x="479692" y="4414292"/>
            <a:ext cx="2672453" cy="450215"/>
          </a:xfrm>
          <a:prstGeom prst="roundRect">
            <a:avLst>
              <a:gd name="adj" fmla="val 1951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审计追溯</a:t>
            </a:r>
          </a:p>
        </p:txBody>
      </p:sp>
      <p:cxnSp>
        <p:nvCxnSpPr>
          <p:cNvPr id="95" name="连接符: 曲线 94"/>
          <p:cNvCxnSpPr>
            <a:stCxn id="88" idx="1"/>
            <a:endCxn id="89" idx="1"/>
          </p:cNvCxnSpPr>
          <p:nvPr/>
        </p:nvCxnSpPr>
        <p:spPr>
          <a:xfrm rot="10800000" flipV="1">
            <a:off x="479693" y="1669637"/>
            <a:ext cx="12700" cy="592832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连接符: 曲线 96"/>
          <p:cNvCxnSpPr>
            <a:stCxn id="89" idx="3"/>
            <a:endCxn id="90" idx="3"/>
          </p:cNvCxnSpPr>
          <p:nvPr/>
        </p:nvCxnSpPr>
        <p:spPr>
          <a:xfrm>
            <a:off x="3152146" y="2262469"/>
            <a:ext cx="4581" cy="592832"/>
          </a:xfrm>
          <a:prstGeom prst="curvedConnector3">
            <a:avLst>
              <a:gd name="adj1" fmla="val 50901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连接符: 曲线 98"/>
          <p:cNvCxnSpPr>
            <a:stCxn id="90" idx="1"/>
            <a:endCxn id="91" idx="1"/>
          </p:cNvCxnSpPr>
          <p:nvPr/>
        </p:nvCxnSpPr>
        <p:spPr>
          <a:xfrm rot="10800000" flipV="1">
            <a:off x="471914" y="2855300"/>
            <a:ext cx="12360" cy="593101"/>
          </a:xfrm>
          <a:prstGeom prst="curvedConnector3">
            <a:avLst>
              <a:gd name="adj1" fmla="val 194951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曲线 100"/>
          <p:cNvCxnSpPr>
            <a:stCxn id="91" idx="3"/>
            <a:endCxn id="92" idx="3"/>
          </p:cNvCxnSpPr>
          <p:nvPr/>
        </p:nvCxnSpPr>
        <p:spPr>
          <a:xfrm>
            <a:off x="3144367" y="3448402"/>
            <a:ext cx="7778" cy="592563"/>
          </a:xfrm>
          <a:prstGeom prst="curvedConnector3">
            <a:avLst>
              <a:gd name="adj1" fmla="val 30390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连接符: 曲线 102"/>
          <p:cNvCxnSpPr>
            <a:stCxn id="92" idx="1"/>
            <a:endCxn id="93" idx="1"/>
          </p:cNvCxnSpPr>
          <p:nvPr/>
        </p:nvCxnSpPr>
        <p:spPr>
          <a:xfrm rot="10800000" flipV="1">
            <a:off x="479692" y="4040964"/>
            <a:ext cx="12700" cy="598435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104"/>
          <p:cNvSpPr>
            <a:spLocks noGrp="1"/>
          </p:cNvSpPr>
          <p:nvPr/>
        </p:nvSpPr>
        <p:spPr>
          <a:xfrm>
            <a:off x="292245" y="5006853"/>
            <a:ext cx="3047345" cy="5163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defRPr sz="1500" b="1">
                <a:solidFill>
                  <a:srgbClr val="123F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保障患者健康数据在采集、分析、生成和追溯全过程中安全可控</a:t>
            </a:r>
            <a:endParaRPr sz="15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7340184" y="0"/>
            <a:ext cx="2438400" cy="666750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核心技术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2" descr="imag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42426" y="1274039"/>
            <a:ext cx="2994041" cy="2360961"/>
          </a:xfrm>
          <a:prstGeom prst="rect">
            <a:avLst/>
          </a:prstGeom>
        </p:spPr>
      </p:pic>
      <p:pic>
        <p:nvPicPr>
          <p:cNvPr id="13" name="Picture 3" descr="image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40740" y="3759493"/>
            <a:ext cx="2995127" cy="2357056"/>
          </a:xfrm>
          <a:prstGeom prst="rect">
            <a:avLst/>
          </a:prstGeom>
        </p:spPr>
      </p:pic>
      <p:pic>
        <p:nvPicPr>
          <p:cNvPr id="14" name="Picture 4" descr="image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46392" y="3758731"/>
            <a:ext cx="2984762" cy="2361152"/>
          </a:xfrm>
          <a:prstGeom prst="rect">
            <a:avLst/>
          </a:prstGeom>
        </p:spPr>
      </p:pic>
      <p:pic>
        <p:nvPicPr>
          <p:cNvPr id="15" name="Picture 5" descr="image.png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50587" y="1275111"/>
            <a:ext cx="2980182" cy="2361294"/>
          </a:xfrm>
          <a:prstGeom prst="rect">
            <a:avLst/>
          </a:prstGeom>
        </p:spPr>
      </p:pic>
      <p:pic>
        <p:nvPicPr>
          <p:cNvPr id="16" name="Picture 6" descr="image.png"/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48886" y="3758695"/>
            <a:ext cx="2972371" cy="2362653"/>
          </a:xfrm>
          <a:prstGeom prst="rect">
            <a:avLst/>
          </a:prstGeom>
        </p:spPr>
      </p:pic>
      <p:pic>
        <p:nvPicPr>
          <p:cNvPr id="17" name="Picture 7" descr="image.png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47933" y="1279846"/>
            <a:ext cx="2972371" cy="2358873"/>
          </a:xfrm>
          <a:prstGeom prst="rect">
            <a:avLst/>
          </a:prstGeom>
        </p:spPr>
      </p:pic>
      <p:pic>
        <p:nvPicPr>
          <p:cNvPr id="19" name="Picture 8" descr="image.png"/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49971" y="3999918"/>
            <a:ext cx="321945" cy="326679"/>
          </a:xfrm>
          <a:prstGeom prst="rect">
            <a:avLst/>
          </a:prstGeom>
        </p:spPr>
      </p:pic>
      <p:pic>
        <p:nvPicPr>
          <p:cNvPr id="20" name="Picture 9" descr="image.png"/>
          <p:cNvPicPr>
            <a:picLocks noChangeAspect="1"/>
          </p:cNvPicPr>
          <p:nvPr/>
        </p:nvPicPr>
        <p:blipFill>
          <a:blip r:embed="rId10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95691" y="4009982"/>
            <a:ext cx="321373" cy="316646"/>
          </a:xfrm>
          <a:prstGeom prst="rect">
            <a:avLst/>
          </a:prstGeom>
        </p:spPr>
      </p:pic>
      <p:pic>
        <p:nvPicPr>
          <p:cNvPr id="21" name="Picture 10" descr="image.png"/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08549" y="4004381"/>
            <a:ext cx="311551" cy="320992"/>
          </a:xfrm>
          <a:prstGeom prst="rect">
            <a:avLst/>
          </a:prstGeom>
        </p:spPr>
      </p:pic>
      <p:pic>
        <p:nvPicPr>
          <p:cNvPr id="22" name="Picture 11" descr="image.png"/>
          <p:cNvPicPr>
            <a:picLocks noChangeAspect="1"/>
          </p:cNvPicPr>
          <p:nvPr/>
        </p:nvPicPr>
        <p:blipFill>
          <a:blip r:embed="rId1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02733" y="1525978"/>
            <a:ext cx="309276" cy="314034"/>
          </a:xfrm>
          <a:prstGeom prst="rect">
            <a:avLst/>
          </a:prstGeom>
        </p:spPr>
      </p:pic>
      <p:pic>
        <p:nvPicPr>
          <p:cNvPr id="23" name="Picture 12" descr="image.png"/>
          <p:cNvPicPr>
            <a:picLocks noChangeAspect="1"/>
          </p:cNvPicPr>
          <p:nvPr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27695" y="1522642"/>
            <a:ext cx="283464" cy="330708"/>
          </a:xfrm>
          <a:prstGeom prst="rect">
            <a:avLst/>
          </a:prstGeom>
        </p:spPr>
      </p:pic>
      <p:pic>
        <p:nvPicPr>
          <p:cNvPr id="24" name="Picture 13" descr="image.png"/>
          <p:cNvPicPr>
            <a:picLocks noChangeAspect="1"/>
          </p:cNvPicPr>
          <p:nvPr/>
        </p:nvPicPr>
        <p:blipFill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960162" y="1526316"/>
            <a:ext cx="296989" cy="311359"/>
          </a:xfrm>
          <a:prstGeom prst="rect">
            <a:avLst/>
          </a:prstGeom>
        </p:spPr>
      </p:pic>
      <p:sp>
        <p:nvSpPr>
          <p:cNvPr id="25" name="TextBox 14"/>
          <p:cNvSpPr txBox="1"/>
          <p:nvPr/>
        </p:nvSpPr>
        <p:spPr>
          <a:xfrm>
            <a:off x="203200" y="823824"/>
            <a:ext cx="2023745" cy="45021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i="0" dirty="0">
                <a:solidFill>
                  <a:srgbClr val="030D40"/>
                </a:solidFill>
                <a:latin typeface="Noto Sans SC" panose="020B0200000000000000" charset="-122"/>
                <a:ea typeface="Noto Sans SC" panose="020B0200000000000000" charset="-122"/>
              </a:rPr>
              <a:t>核心</a:t>
            </a:r>
            <a:r>
              <a:rPr sz="2800" b="1" i="0" dirty="0" err="1">
                <a:solidFill>
                  <a:srgbClr val="030D40"/>
                </a:solidFill>
                <a:latin typeface="Noto Sans SC" panose="020B0200000000000000" charset="-122"/>
                <a:ea typeface="Noto Sans SC" panose="020B0200000000000000" charset="-122"/>
              </a:rPr>
              <a:t>亮点</a:t>
            </a:r>
            <a:endParaRPr sz="2800" b="1" i="0" dirty="0">
              <a:solidFill>
                <a:srgbClr val="030D4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15"/>
          <p:cNvSpPr txBox="1"/>
          <p:nvPr/>
        </p:nvSpPr>
        <p:spPr>
          <a:xfrm>
            <a:off x="1942636" y="1928788"/>
            <a:ext cx="2154078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000126"/>
                </a:solidFill>
                <a:latin typeface="Noto Sans SC" panose="020B0200000000000000" charset="-122"/>
                <a:ea typeface="Noto Sans SC" panose="020B0200000000000000" charset="-122"/>
              </a:rPr>
              <a:t>纸质病历OCR导入</a:t>
            </a:r>
            <a:endParaRPr sz="2100" b="0" i="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7" name="TextBox 16"/>
          <p:cNvSpPr txBox="1"/>
          <p:nvPr/>
        </p:nvSpPr>
        <p:spPr>
          <a:xfrm>
            <a:off x="4990636" y="1928788"/>
            <a:ext cx="2271331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126"/>
                </a:solidFill>
                <a:latin typeface="Noto Sans SC" panose="020B0200000000000000" charset="-122"/>
                <a:ea typeface="Noto Sans SC" panose="020B0200000000000000" charset="-122"/>
              </a:rPr>
              <a:t>设备JSON数据导入</a:t>
            </a:r>
          </a:p>
        </p:txBody>
      </p:sp>
      <p:sp>
        <p:nvSpPr>
          <p:cNvPr id="28" name="TextBox 17"/>
          <p:cNvSpPr txBox="1"/>
          <p:nvPr/>
        </p:nvSpPr>
        <p:spPr>
          <a:xfrm>
            <a:off x="8126552" y="1928788"/>
            <a:ext cx="2095500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126"/>
                </a:solidFill>
                <a:latin typeface="Noto Sans SC" panose="020B0200000000000000" charset="-122"/>
                <a:ea typeface="Noto Sans SC" panose="020B0200000000000000" charset="-122"/>
              </a:rPr>
              <a:t>临床数据作业治理</a:t>
            </a:r>
            <a:endParaRPr sz="2025" b="1" i="0">
              <a:solidFill>
                <a:srgbClr val="0001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TextBox 19"/>
          <p:cNvSpPr txBox="1"/>
          <p:nvPr/>
        </p:nvSpPr>
        <p:spPr>
          <a:xfrm>
            <a:off x="5098745" y="2542579"/>
            <a:ext cx="2151221" cy="59397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l" fontAlgn="auto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对接物联网设备</a:t>
            </a:r>
            <a:r>
              <a:rPr lang="zh-CN" sz="1600" b="0" i="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，</a:t>
            </a:r>
            <a:r>
              <a:rPr sz="1600" b="0" i="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自动</a:t>
            </a:r>
          </a:p>
          <a:p>
            <a:pPr indent="0" algn="l" fontAlgn="auto">
              <a:spcBef>
                <a:spcPts val="625"/>
              </a:spcBef>
            </a:pPr>
            <a:r>
              <a:rPr sz="160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解析结构化健康数据</a:t>
            </a:r>
          </a:p>
        </p:txBody>
      </p:sp>
      <p:sp>
        <p:nvSpPr>
          <p:cNvPr id="30" name="TextBox 20"/>
          <p:cNvSpPr txBox="1"/>
          <p:nvPr/>
        </p:nvSpPr>
        <p:spPr>
          <a:xfrm>
            <a:off x="8143126" y="2409134"/>
            <a:ext cx="2419985" cy="7264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支持</a:t>
            </a:r>
            <a:r>
              <a:rPr lang="zh-CN" sz="1600" b="0" i="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幂</a:t>
            </a:r>
            <a:r>
              <a:rPr sz="1600" b="0" i="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等去重、失败重</a:t>
            </a:r>
            <a:r>
              <a:rPr sz="160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试、</a:t>
            </a: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超时告警和死信处理</a:t>
            </a:r>
            <a:endParaRPr lang="zh-CN" sz="1725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1" name="TextBox 21"/>
          <p:cNvSpPr txBox="1"/>
          <p:nvPr/>
        </p:nvSpPr>
        <p:spPr>
          <a:xfrm>
            <a:off x="1943398" y="4440054"/>
            <a:ext cx="165439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126"/>
                </a:solidFill>
                <a:latin typeface="Noto Sans SC" panose="020B0200000000000000" charset="-122"/>
                <a:ea typeface="Noto Sans SC" panose="020B0200000000000000" charset="-122"/>
              </a:rPr>
              <a:t>FHIR标准映射</a:t>
            </a:r>
            <a:endParaRPr sz="1950" b="1" i="0">
              <a:solidFill>
                <a:srgbClr val="00012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2" name="TextBox 22"/>
          <p:cNvSpPr txBox="1"/>
          <p:nvPr/>
        </p:nvSpPr>
        <p:spPr>
          <a:xfrm>
            <a:off x="4991398" y="4440054"/>
            <a:ext cx="221122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126"/>
                </a:solidFill>
                <a:latin typeface="Noto Sans SC" panose="020B0200000000000000" charset="-122"/>
                <a:ea typeface="Noto Sans SC" panose="020B0200000000000000" charset="-122"/>
              </a:rPr>
              <a:t>Medplum集成接口</a:t>
            </a:r>
            <a:endParaRPr sz="1950" b="1" i="0">
              <a:solidFill>
                <a:srgbClr val="00022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3" name="TextBox 23"/>
          <p:cNvSpPr txBox="1"/>
          <p:nvPr/>
        </p:nvSpPr>
        <p:spPr>
          <a:xfrm>
            <a:off x="8126552" y="4391259"/>
            <a:ext cx="2856071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000126"/>
                </a:solidFill>
                <a:latin typeface="Noto Sans SC" panose="020B0200000000000000" charset="-122"/>
                <a:ea typeface="Noto Sans SC" panose="020B0200000000000000" charset="-122"/>
              </a:rPr>
              <a:t>Harness观测与评分</a:t>
            </a:r>
            <a:endParaRPr sz="2000" b="1" i="0" dirty="0">
              <a:solidFill>
                <a:srgbClr val="000126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4" name="TextBox 24"/>
          <p:cNvSpPr txBox="1"/>
          <p:nvPr/>
        </p:nvSpPr>
        <p:spPr>
          <a:xfrm>
            <a:off x="1979625" y="5022508"/>
            <a:ext cx="2121884" cy="56254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 err="1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将内部数据模型映射为</a:t>
            </a:r>
            <a:endParaRPr sz="1600" b="0" i="0" dirty="0">
              <a:solidFill>
                <a:srgbClr val="01082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 algn="l">
              <a:spcBef>
                <a:spcPts val="630"/>
              </a:spcBef>
            </a:pPr>
            <a:r>
              <a:rPr sz="1600" dirty="0" err="1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国际医疗互操作标准</a:t>
            </a:r>
            <a:endParaRPr lang="zh-CN" sz="1610" dirty="0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5" name="TextBox 25"/>
          <p:cNvSpPr txBox="1"/>
          <p:nvPr/>
        </p:nvSpPr>
        <p:spPr>
          <a:xfrm>
            <a:off x="5000955" y="5004728"/>
            <a:ext cx="2277284" cy="56254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对接开源医疗数据平台</a:t>
            </a:r>
            <a:r>
              <a:rPr lang="zh-CN" sz="1600" b="0" i="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，</a:t>
            </a:r>
            <a:endParaRPr sz="1600" b="0" i="0">
              <a:solidFill>
                <a:srgbClr val="01082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 algn="l">
              <a:spcBef>
                <a:spcPts val="630"/>
              </a:spcBef>
            </a:pPr>
            <a:r>
              <a:rPr sz="160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支撑外部生态互联</a:t>
            </a:r>
          </a:p>
        </p:txBody>
      </p:sp>
      <p:sp>
        <p:nvSpPr>
          <p:cNvPr id="36" name="TextBox 26"/>
          <p:cNvSpPr txBox="1"/>
          <p:nvPr/>
        </p:nvSpPr>
        <p:spPr>
          <a:xfrm>
            <a:off x="8149038" y="5006708"/>
            <a:ext cx="2121265" cy="56178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 err="1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AI执行全过程可观测</a:t>
            </a:r>
            <a:r>
              <a:rPr sz="1600" b="0" i="0" dirty="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、</a:t>
            </a:r>
          </a:p>
          <a:p>
            <a:pPr marL="29210" algn="l">
              <a:spcBef>
                <a:spcPts val="880"/>
              </a:spcBef>
            </a:pPr>
            <a:r>
              <a:rPr sz="1600" dirty="0" err="1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</a:rPr>
              <a:t>可评分、可追溯审计</a:t>
            </a:r>
            <a:endParaRPr sz="1600" dirty="0">
              <a:solidFill>
                <a:srgbClr val="010829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942351" y="2405324"/>
            <a:ext cx="2116455" cy="786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010829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将非结构化病历转为可计算临床数据</a:t>
            </a:r>
            <a:endParaRPr>
              <a:solidFill>
                <a:srgbClr val="010829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8"/>
          <p:cNvSpPr txBox="1"/>
          <p:nvPr/>
        </p:nvSpPr>
        <p:spPr>
          <a:xfrm>
            <a:off x="187673" y="862709"/>
            <a:ext cx="4180713" cy="417957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00073D"/>
                </a:solidFill>
                <a:latin typeface="Noto Sans SC" panose="020B0200000000000000" charset="-122"/>
                <a:ea typeface="Noto Sans SC" panose="020B0200000000000000" charset="-122"/>
              </a:rPr>
              <a:t>功能实现</a:t>
            </a:r>
            <a:r>
              <a:rPr lang="en-US" sz="2800" b="1" i="0" dirty="0">
                <a:solidFill>
                  <a:srgbClr val="00073D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2800" b="1" i="0" dirty="0">
                <a:solidFill>
                  <a:srgbClr val="00073D"/>
                </a:solidFill>
                <a:latin typeface="Noto Sans SC" panose="020B0200000000000000" charset="-122"/>
                <a:ea typeface="Noto Sans SC" panose="020B0200000000000000" charset="-122"/>
              </a:rPr>
              <a:t>:</a:t>
            </a:r>
            <a:r>
              <a:rPr lang="en-US" sz="2800" b="1" i="0" dirty="0">
                <a:solidFill>
                  <a:srgbClr val="00073D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sz="2800" b="1" i="0" dirty="0" err="1">
                <a:solidFill>
                  <a:srgbClr val="00073D"/>
                </a:solidFill>
                <a:latin typeface="Noto Sans SC" panose="020B0200000000000000" charset="-122"/>
                <a:ea typeface="Noto Sans SC" panose="020B0200000000000000" charset="-122"/>
              </a:rPr>
              <a:t>三端功能全景</a:t>
            </a:r>
            <a:endParaRPr sz="2800" b="1" i="0" dirty="0">
              <a:solidFill>
                <a:srgbClr val="00073D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12"/>
          <p:cNvSpPr txBox="1"/>
          <p:nvPr>
            <p:custDataLst>
              <p:tags r:id="rId1"/>
            </p:custDataLst>
          </p:nvPr>
        </p:nvSpPr>
        <p:spPr>
          <a:xfrm>
            <a:off x="1493602" y="2681752"/>
            <a:ext cx="2641600" cy="128778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58420" algn="just">
              <a:spcBef>
                <a:spcPts val="0"/>
              </a:spcBef>
              <a:spcAft>
                <a:spcPts val="0"/>
              </a:spcAft>
            </a:pPr>
            <a:r>
              <a:rPr lang="zh-CN" b="1" dirty="0">
                <a:latin typeface="Noto Sans SC" panose="020B0200000000000000" charset="-122"/>
                <a:ea typeface="Noto Sans SC" panose="020B0200000000000000" charset="-122"/>
                <a:sym typeface="+mn-ea"/>
              </a:rPr>
              <a:t>·</a:t>
            </a:r>
            <a:r>
              <a:rPr b="0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每日记录</a:t>
            </a:r>
            <a:r>
              <a:rPr lang="en-US" b="0" i="0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b="1" dirty="0">
                <a:latin typeface="Noto Sans SC" panose="020B0200000000000000" charset="-122"/>
                <a:ea typeface="Noto Sans SC" panose="020B0200000000000000" charset="-122"/>
                <a:sym typeface="+mn-ea"/>
              </a:rPr>
              <a:t>·</a:t>
            </a:r>
            <a:r>
              <a:rPr lang="zh-CN" dirty="0">
                <a:latin typeface="Noto Sans SC" panose="020B0200000000000000" charset="-122"/>
                <a:ea typeface="Noto Sans SC" panose="020B0200000000000000" charset="-122"/>
              </a:rPr>
              <a:t>健康趋势</a:t>
            </a:r>
          </a:p>
          <a:p>
            <a:pPr algn="just">
              <a:spcBef>
                <a:spcPts val="855"/>
              </a:spcBef>
            </a:pPr>
            <a:r>
              <a:rPr lang="en-US" altLang="zh-CN" dirty="0"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b="1" dirty="0">
                <a:latin typeface="Noto Sans SC" panose="020B0200000000000000" charset="-122"/>
                <a:ea typeface="Noto Sans SC" panose="020B0200000000000000" charset="-122"/>
              </a:rPr>
              <a:t>·</a:t>
            </a:r>
            <a:r>
              <a:rPr lang="zh-CN" dirty="0">
                <a:latin typeface="Noto Sans SC" panose="020B0200000000000000" charset="-122"/>
                <a:ea typeface="Noto Sans SC" panose="020B0200000000000000" charset="-122"/>
              </a:rPr>
              <a:t>随访提醒</a:t>
            </a:r>
            <a:r>
              <a:rPr lang="en-US" altLang="zh-CN" dirty="0"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b="1" dirty="0">
                <a:latin typeface="Noto Sans SC" panose="020B0200000000000000" charset="-122"/>
                <a:ea typeface="Noto Sans SC" panose="020B0200000000000000" charset="-122"/>
                <a:sym typeface="+mn-ea"/>
              </a:rPr>
              <a:t>·</a:t>
            </a:r>
            <a:r>
              <a:rPr lang="zh-CN" dirty="0">
                <a:latin typeface="Noto Sans SC" panose="020B0200000000000000" charset="-122"/>
                <a:ea typeface="Noto Sans SC" panose="020B0200000000000000" charset="-122"/>
              </a:rPr>
              <a:t>AI健康顾问</a:t>
            </a:r>
          </a:p>
          <a:p>
            <a:pPr marL="29845" algn="just">
              <a:spcBef>
                <a:spcPts val="1100"/>
              </a:spcBef>
            </a:pPr>
            <a:r>
              <a:rPr lang="zh-CN" b="1" dirty="0">
                <a:latin typeface="Noto Sans SC" panose="020B0200000000000000" charset="-122"/>
                <a:ea typeface="Noto Sans SC" panose="020B0200000000000000" charset="-122"/>
                <a:sym typeface="+mn-ea"/>
              </a:rPr>
              <a:t>·</a:t>
            </a:r>
            <a:r>
              <a:rPr lang="zh-CN" dirty="0">
                <a:latin typeface="Noto Sans SC" panose="020B0200000000000000" charset="-122"/>
                <a:ea typeface="Noto Sans SC" panose="020B0200000000000000" charset="-122"/>
              </a:rPr>
              <a:t>健康宣教</a:t>
            </a:r>
            <a:r>
              <a:rPr lang="en-US" altLang="zh-CN" dirty="0"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lang="zh-CN" b="1" dirty="0">
                <a:latin typeface="Noto Sans SC" panose="020B0200000000000000" charset="-122"/>
                <a:ea typeface="Noto Sans SC" panose="020B0200000000000000" charset="-122"/>
              </a:rPr>
              <a:t>·</a:t>
            </a:r>
            <a:r>
              <a:rPr lang="zh-CN" dirty="0">
                <a:latin typeface="Noto Sans SC" panose="020B0200000000000000" charset="-122"/>
                <a:ea typeface="Noto Sans SC" panose="020B0200000000000000" charset="-122"/>
              </a:rPr>
              <a:t>个人档案</a:t>
            </a:r>
          </a:p>
        </p:txBody>
      </p:sp>
      <p:sp>
        <p:nvSpPr>
          <p:cNvPr id="23" name="TextBox 13"/>
          <p:cNvSpPr txBox="1"/>
          <p:nvPr>
            <p:custDataLst>
              <p:tags r:id="rId2"/>
            </p:custDataLst>
          </p:nvPr>
        </p:nvSpPr>
        <p:spPr>
          <a:xfrm>
            <a:off x="4833578" y="2681752"/>
            <a:ext cx="2445734" cy="111604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b="1" i="0" dirty="0">
                <a:solidFill>
                  <a:srgbClr val="00011C"/>
                </a:solidFill>
                <a:latin typeface="Noto Sans SC" panose="020B0200000000000000" charset="-122"/>
                <a:ea typeface="Noto Sans SC" panose="020B0200000000000000" charset="-122"/>
              </a:rPr>
              <a:t>·</a:t>
            </a:r>
            <a:r>
              <a:rPr b="0" i="0" dirty="0" err="1">
                <a:solidFill>
                  <a:srgbClr val="00011C"/>
                </a:solidFill>
                <a:latin typeface="Noto Sans SC" panose="020B0200000000000000" charset="-122"/>
                <a:ea typeface="Noto Sans SC" panose="020B0200000000000000" charset="-122"/>
              </a:rPr>
              <a:t>患者详情</a:t>
            </a:r>
            <a:r>
              <a:rPr b="1" i="0" dirty="0" err="1">
                <a:solidFill>
                  <a:srgbClr val="00011C"/>
                </a:solidFill>
                <a:latin typeface="Noto Sans SC" panose="020B0200000000000000" charset="-122"/>
                <a:ea typeface="Noto Sans SC" panose="020B0200000000000000" charset="-122"/>
              </a:rPr>
              <a:t>·</a:t>
            </a:r>
            <a:r>
              <a:rPr b="0" i="0" dirty="0" err="1">
                <a:solidFill>
                  <a:srgbClr val="00011C"/>
                </a:solidFill>
                <a:latin typeface="Noto Sans SC" panose="020B0200000000000000" charset="-122"/>
                <a:ea typeface="Noto Sans SC" panose="020B0200000000000000" charset="-122"/>
              </a:rPr>
              <a:t>风险评估</a:t>
            </a:r>
            <a:endParaRPr b="0" i="0" dirty="0">
              <a:solidFill>
                <a:srgbClr val="00011C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635">
              <a:spcBef>
                <a:spcPts val="1100"/>
              </a:spcBef>
            </a:pPr>
            <a:r>
              <a:rPr lang="zh-CN" b="1" dirty="0">
                <a:latin typeface="Noto Sans SC" panose="020B0200000000000000" charset="-122"/>
                <a:ea typeface="Noto Sans SC" panose="020B0200000000000000" charset="-122"/>
              </a:rPr>
              <a:t>·</a:t>
            </a:r>
            <a:r>
              <a:rPr lang="zh-CN" dirty="0">
                <a:latin typeface="Noto Sans SC" panose="020B0200000000000000" charset="-122"/>
                <a:ea typeface="Noto Sans SC" panose="020B0200000000000000" charset="-122"/>
              </a:rPr>
              <a:t>随访管理</a:t>
            </a:r>
            <a:r>
              <a:rPr lang="zh-CN" b="1" dirty="0">
                <a:latin typeface="Noto Sans SC" panose="020B0200000000000000" charset="-122"/>
                <a:ea typeface="Noto Sans SC" panose="020B0200000000000000" charset="-122"/>
              </a:rPr>
              <a:t>·</a:t>
            </a:r>
            <a:r>
              <a:rPr lang="zh-CN" dirty="0">
                <a:latin typeface="Noto Sans SC" panose="020B0200000000000000" charset="-122"/>
                <a:ea typeface="Noto Sans SC" panose="020B0200000000000000" charset="-122"/>
              </a:rPr>
              <a:t>AI临床顾问</a:t>
            </a:r>
          </a:p>
          <a:p>
            <a:pPr marL="635">
              <a:spcBef>
                <a:spcPts val="1100"/>
              </a:spcBef>
            </a:pPr>
            <a:r>
              <a:rPr lang="zh-CN" b="1" dirty="0">
                <a:latin typeface="Noto Sans SC" panose="020B0200000000000000" charset="-122"/>
                <a:ea typeface="Noto Sans SC" panose="020B0200000000000000" charset="-122"/>
              </a:rPr>
              <a:t>·</a:t>
            </a:r>
            <a:r>
              <a:rPr lang="zh-CN" dirty="0">
                <a:latin typeface="Noto Sans SC" panose="020B0200000000000000" charset="-122"/>
                <a:ea typeface="Noto Sans SC" panose="020B0200000000000000" charset="-122"/>
              </a:rPr>
              <a:t>医患消息</a:t>
            </a:r>
          </a:p>
        </p:txBody>
      </p:sp>
      <p:sp>
        <p:nvSpPr>
          <p:cNvPr id="24" name="TextBox 14"/>
          <p:cNvSpPr txBox="1"/>
          <p:nvPr>
            <p:custDataLst>
              <p:tags r:id="rId3"/>
            </p:custDataLst>
          </p:nvPr>
        </p:nvSpPr>
        <p:spPr>
          <a:xfrm>
            <a:off x="7975781" y="2681752"/>
            <a:ext cx="2645410" cy="151320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b="1" i="0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 </a:t>
            </a:r>
            <a:r>
              <a:rPr b="1" dirty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·</a:t>
            </a:r>
            <a:r>
              <a:rPr b="0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账号管理</a:t>
            </a:r>
            <a:r>
              <a:rPr b="1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·</a:t>
            </a:r>
            <a:r>
              <a:rPr b="0" i="0" dirty="0" err="1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知识库管理</a:t>
            </a:r>
            <a:endParaRPr b="0" i="0" dirty="0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 marL="29845" algn="just">
              <a:spcBef>
                <a:spcPts val="1100"/>
              </a:spcBef>
            </a:pPr>
            <a:r>
              <a:rPr lang="zh-CN" b="1" dirty="0">
                <a:latin typeface="Noto Sans SC" panose="020B0200000000000000" charset="-122"/>
                <a:ea typeface="Noto Sans SC" panose="020B0200000000000000" charset="-122"/>
              </a:rPr>
              <a:t>·</a:t>
            </a:r>
            <a:r>
              <a:rPr lang="zh-CN" dirty="0">
                <a:latin typeface="Noto Sans SC" panose="020B0200000000000000" charset="-122"/>
                <a:ea typeface="Noto Sans SC" panose="020B0200000000000000" charset="-122"/>
              </a:rPr>
              <a:t>视频资源管理</a:t>
            </a:r>
          </a:p>
          <a:p>
            <a:pPr marL="29210" algn="just">
              <a:spcBef>
                <a:spcPts val="1105"/>
              </a:spcBef>
            </a:pPr>
            <a:r>
              <a:rPr lang="zh-CN" b="1" dirty="0">
                <a:latin typeface="Noto Sans SC" panose="020B0200000000000000" charset="-122"/>
                <a:ea typeface="Noto Sans SC" panose="020B0200000000000000" charset="-122"/>
              </a:rPr>
              <a:t>·</a:t>
            </a:r>
            <a:r>
              <a:rPr lang="zh-CN" dirty="0">
                <a:latin typeface="Noto Sans SC" panose="020B0200000000000000" charset="-122"/>
                <a:ea typeface="Noto Sans SC" panose="020B0200000000000000" charset="-122"/>
              </a:rPr>
              <a:t>知识图谱管理</a:t>
            </a:r>
          </a:p>
          <a:p>
            <a:pPr marL="29210" algn="just">
              <a:spcBef>
                <a:spcPts val="1105"/>
              </a:spcBef>
            </a:pPr>
            <a:r>
              <a:rPr lang="zh-CN" b="1" dirty="0">
                <a:latin typeface="Noto Sans SC" panose="020B0200000000000000" charset="-122"/>
                <a:ea typeface="Noto Sans SC" panose="020B0200000000000000" charset="-122"/>
                <a:sym typeface="+mn-ea"/>
              </a:rPr>
              <a:t>·</a:t>
            </a:r>
            <a:r>
              <a:rPr lang="zh-CN" dirty="0">
                <a:latin typeface="Noto Sans SC" panose="020B0200000000000000" charset="-122"/>
                <a:ea typeface="Noto Sans SC" panose="020B0200000000000000" charset="-122"/>
              </a:rPr>
              <a:t>过程监测</a:t>
            </a:r>
          </a:p>
        </p:txBody>
      </p:sp>
      <p:sp>
        <p:nvSpPr>
          <p:cNvPr id="25" name="TextBox 16"/>
          <p:cNvSpPr txBox="1"/>
          <p:nvPr/>
        </p:nvSpPr>
        <p:spPr>
          <a:xfrm>
            <a:off x="2455830" y="4912296"/>
            <a:ext cx="7252144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dirty="0" err="1">
                <a:solidFill>
                  <a:srgbClr val="0F6233"/>
                </a:solidFill>
                <a:latin typeface="Noto Sans SC" panose="020B0200000000000000" charset="-122"/>
                <a:ea typeface="Noto Sans SC" panose="020B0200000000000000" charset="-122"/>
              </a:rPr>
              <a:t>纸质病历导入审核·设备数据导入·临床作业看板·FHIR互联支撑</a:t>
            </a:r>
            <a:endParaRPr sz="1950" b="0" i="0" dirty="0">
              <a:solidFill>
                <a:srgbClr val="0F623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17"/>
          <p:cNvSpPr txBox="1"/>
          <p:nvPr/>
        </p:nvSpPr>
        <p:spPr>
          <a:xfrm>
            <a:off x="4198810" y="5529675"/>
            <a:ext cx="355939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1B2029"/>
                </a:solidFill>
                <a:latin typeface="Noto Sans SC" panose="020B0200000000000000" charset="-122"/>
                <a:ea typeface="Noto Sans SC" panose="020B0200000000000000" charset="-122"/>
              </a:rPr>
              <a:t>三端协同</a:t>
            </a:r>
            <a:r>
              <a:rPr lang="zh-CN" sz="2025" b="0" i="0">
                <a:solidFill>
                  <a:srgbClr val="1B2029"/>
                </a:solidFill>
                <a:latin typeface="Noto Sans SC" panose="020B0200000000000000" charset="-122"/>
                <a:ea typeface="Noto Sans SC" panose="020B0200000000000000" charset="-122"/>
              </a:rPr>
              <a:t>，</a:t>
            </a:r>
            <a:r>
              <a:rPr sz="2025" b="0" i="0">
                <a:solidFill>
                  <a:srgbClr val="1B2029"/>
                </a:solidFill>
                <a:latin typeface="Noto Sans SC" panose="020B0200000000000000" charset="-122"/>
                <a:ea typeface="Noto Sans SC" panose="020B0200000000000000" charset="-122"/>
              </a:rPr>
              <a:t>覆盖慢病管理全场景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753600" y="0"/>
            <a:ext cx="2438400" cy="666750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功能价值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: 圆角 27"/>
          <p:cNvSpPr/>
          <p:nvPr>
            <p:custDataLst>
              <p:tags r:id="rId4"/>
            </p:custDataLst>
          </p:nvPr>
        </p:nvSpPr>
        <p:spPr>
          <a:xfrm>
            <a:off x="1947247" y="1890353"/>
            <a:ext cx="1734311" cy="663276"/>
          </a:xfrm>
          <a:prstGeom prst="roundRect">
            <a:avLst/>
          </a:prstGeom>
          <a:solidFill>
            <a:srgbClr val="CF435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患者端</a:t>
            </a:r>
          </a:p>
        </p:txBody>
      </p:sp>
      <p:sp>
        <p:nvSpPr>
          <p:cNvPr id="29" name="矩形: 圆角 28"/>
          <p:cNvSpPr/>
          <p:nvPr>
            <p:custDataLst>
              <p:tags r:id="rId5"/>
            </p:custDataLst>
          </p:nvPr>
        </p:nvSpPr>
        <p:spPr>
          <a:xfrm>
            <a:off x="5228844" y="1899265"/>
            <a:ext cx="1734311" cy="663276"/>
          </a:xfrm>
          <a:prstGeom prst="roundRect">
            <a:avLst/>
          </a:prstGeom>
          <a:solidFill>
            <a:srgbClr val="E78C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医生端</a:t>
            </a:r>
          </a:p>
        </p:txBody>
      </p:sp>
      <p:sp>
        <p:nvSpPr>
          <p:cNvPr id="30" name="矩形: 圆角 29"/>
          <p:cNvSpPr/>
          <p:nvPr>
            <p:custDataLst>
              <p:tags r:id="rId6"/>
            </p:custDataLst>
          </p:nvPr>
        </p:nvSpPr>
        <p:spPr>
          <a:xfrm>
            <a:off x="8431331" y="1890353"/>
            <a:ext cx="1734311" cy="663276"/>
          </a:xfrm>
          <a:prstGeom prst="roundRect">
            <a:avLst/>
          </a:prstGeom>
          <a:solidFill>
            <a:srgbClr val="F6B6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管理员端</a:t>
            </a:r>
          </a:p>
        </p:txBody>
      </p:sp>
      <p:sp>
        <p:nvSpPr>
          <p:cNvPr id="31" name="矩形: 圆角 30"/>
          <p:cNvSpPr/>
          <p:nvPr>
            <p:custDataLst>
              <p:tags r:id="rId7"/>
            </p:custDataLst>
          </p:nvPr>
        </p:nvSpPr>
        <p:spPr>
          <a:xfrm>
            <a:off x="1304144" y="1566472"/>
            <a:ext cx="3020518" cy="2756608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/>
          <p:cNvSpPr/>
          <p:nvPr>
            <p:custDataLst>
              <p:tags r:id="rId8"/>
            </p:custDataLst>
          </p:nvPr>
        </p:nvSpPr>
        <p:spPr>
          <a:xfrm>
            <a:off x="4546186" y="1566472"/>
            <a:ext cx="3020518" cy="2756608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32"/>
          <p:cNvSpPr/>
          <p:nvPr>
            <p:custDataLst>
              <p:tags r:id="rId9"/>
            </p:custDataLst>
          </p:nvPr>
        </p:nvSpPr>
        <p:spPr>
          <a:xfrm>
            <a:off x="7788228" y="1566472"/>
            <a:ext cx="3020518" cy="2756608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9753600" y="0"/>
            <a:ext cx="2438400" cy="666750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功能价值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3" descr="imag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40808" y="3848595"/>
            <a:ext cx="2471642" cy="985799"/>
          </a:xfrm>
          <a:prstGeom prst="rect">
            <a:avLst/>
          </a:prstGeom>
        </p:spPr>
      </p:pic>
      <p:pic>
        <p:nvPicPr>
          <p:cNvPr id="13" name="Picture 4" descr="image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82825" y="2300231"/>
            <a:ext cx="2222277" cy="680483"/>
          </a:xfrm>
          <a:prstGeom prst="rect">
            <a:avLst/>
          </a:prstGeom>
        </p:spPr>
      </p:pic>
      <p:pic>
        <p:nvPicPr>
          <p:cNvPr id="14" name="Picture 5" descr="image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87355" y="4529550"/>
            <a:ext cx="626882" cy="717804"/>
          </a:xfrm>
          <a:prstGeom prst="rect">
            <a:avLst/>
          </a:prstGeom>
        </p:spPr>
      </p:pic>
      <p:pic>
        <p:nvPicPr>
          <p:cNvPr id="15" name="Picture 6" descr="image.png"/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84237" y="4553078"/>
            <a:ext cx="577786" cy="697163"/>
          </a:xfrm>
          <a:prstGeom prst="rect">
            <a:avLst/>
          </a:prstGeom>
        </p:spPr>
      </p:pic>
      <p:pic>
        <p:nvPicPr>
          <p:cNvPr id="16" name="Picture 7" descr="image.png"/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11605" y="1882845"/>
            <a:ext cx="598455" cy="650701"/>
          </a:xfrm>
          <a:prstGeom prst="rect">
            <a:avLst/>
          </a:prstGeom>
        </p:spPr>
      </p:pic>
      <p:pic>
        <p:nvPicPr>
          <p:cNvPr id="17" name="Picture 8" descr="image.png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23935" y="1840801"/>
            <a:ext cx="588425" cy="659606"/>
          </a:xfrm>
          <a:prstGeom prst="rect">
            <a:avLst/>
          </a:prstGeom>
        </p:spPr>
      </p:pic>
      <p:pic>
        <p:nvPicPr>
          <p:cNvPr id="19" name="Picture 9" descr="image.png"/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29873" y="3004468"/>
            <a:ext cx="226980" cy="1040325"/>
          </a:xfrm>
          <a:prstGeom prst="rect">
            <a:avLst/>
          </a:prstGeom>
        </p:spPr>
      </p:pic>
      <p:pic>
        <p:nvPicPr>
          <p:cNvPr id="20" name="Picture 10" descr="image.png"/>
          <p:cNvPicPr>
            <a:picLocks noChangeAspect="1"/>
          </p:cNvPicPr>
          <p:nvPr/>
        </p:nvPicPr>
        <p:blipFill>
          <a:blip r:embed="rId10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08882" y="2993734"/>
            <a:ext cx="222980" cy="1062713"/>
          </a:xfrm>
          <a:prstGeom prst="rect">
            <a:avLst/>
          </a:prstGeom>
        </p:spPr>
      </p:pic>
      <p:pic>
        <p:nvPicPr>
          <p:cNvPr id="21" name="Picture 11" descr="image.png"/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92298" y="1409949"/>
            <a:ext cx="979932" cy="209305"/>
          </a:xfrm>
          <a:prstGeom prst="rect">
            <a:avLst/>
          </a:prstGeom>
        </p:spPr>
      </p:pic>
      <p:pic>
        <p:nvPicPr>
          <p:cNvPr id="22" name="Picture 12" descr="image.png"/>
          <p:cNvPicPr>
            <a:picLocks noChangeAspect="1"/>
          </p:cNvPicPr>
          <p:nvPr/>
        </p:nvPicPr>
        <p:blipFill>
          <a:blip r:embed="rId1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26568" y="5534882"/>
            <a:ext cx="944127" cy="199263"/>
          </a:xfrm>
          <a:prstGeom prst="rect">
            <a:avLst/>
          </a:prstGeom>
        </p:spPr>
      </p:pic>
      <p:pic>
        <p:nvPicPr>
          <p:cNvPr id="23" name="Picture 13" descr="image.png"/>
          <p:cNvPicPr>
            <a:picLocks noChangeAspect="1"/>
          </p:cNvPicPr>
          <p:nvPr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89543" y="1472184"/>
            <a:ext cx="430085" cy="420528"/>
          </a:xfrm>
          <a:prstGeom prst="rect">
            <a:avLst/>
          </a:prstGeom>
        </p:spPr>
      </p:pic>
      <p:pic>
        <p:nvPicPr>
          <p:cNvPr id="24" name="Picture 15" descr="image.png"/>
          <p:cNvPicPr>
            <a:picLocks noChangeAspect="1"/>
          </p:cNvPicPr>
          <p:nvPr/>
        </p:nvPicPr>
        <p:blipFill>
          <a:blip r:embed="rId1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82508" y="1415700"/>
            <a:ext cx="422529" cy="422529"/>
          </a:xfrm>
          <a:prstGeom prst="rect">
            <a:avLst/>
          </a:prstGeom>
        </p:spPr>
      </p:pic>
      <p:pic>
        <p:nvPicPr>
          <p:cNvPr id="25" name="Picture 18" descr="image.png"/>
          <p:cNvPicPr>
            <a:picLocks noChangeAspect="1"/>
          </p:cNvPicPr>
          <p:nvPr/>
        </p:nvPicPr>
        <p:blipFill>
          <a:blip r:embed="rId1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38194" y="4092606"/>
            <a:ext cx="422789" cy="413289"/>
          </a:xfrm>
          <a:prstGeom prst="rect">
            <a:avLst/>
          </a:prstGeom>
        </p:spPr>
      </p:pic>
      <p:pic>
        <p:nvPicPr>
          <p:cNvPr id="26" name="Picture 19" descr="image.png"/>
          <p:cNvPicPr>
            <a:picLocks noChangeAspect="1"/>
          </p:cNvPicPr>
          <p:nvPr/>
        </p:nvPicPr>
        <p:blipFill>
          <a:blip r:embed="rId16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61864" y="2569241"/>
            <a:ext cx="405994" cy="425100"/>
          </a:xfrm>
          <a:prstGeom prst="rect">
            <a:avLst/>
          </a:prstGeom>
        </p:spPr>
      </p:pic>
      <p:pic>
        <p:nvPicPr>
          <p:cNvPr id="27" name="Picture 20" descr="image.png"/>
          <p:cNvPicPr>
            <a:picLocks noChangeAspect="1"/>
          </p:cNvPicPr>
          <p:nvPr/>
        </p:nvPicPr>
        <p:blipFill>
          <a:blip r:embed="rId17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86044" y="5276469"/>
            <a:ext cx="427717" cy="403955"/>
          </a:xfrm>
          <a:prstGeom prst="rect">
            <a:avLst/>
          </a:prstGeom>
        </p:spPr>
      </p:pic>
      <p:sp>
        <p:nvSpPr>
          <p:cNvPr id="28" name="TextBox 21"/>
          <p:cNvSpPr txBox="1"/>
          <p:nvPr/>
        </p:nvSpPr>
        <p:spPr>
          <a:xfrm>
            <a:off x="214776" y="856201"/>
            <a:ext cx="2407285" cy="48196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 dirty="0" err="1">
                <a:solidFill>
                  <a:srgbClr val="000C3D"/>
                </a:solidFill>
                <a:latin typeface="Noto Sans SC" panose="020B0200000000000000" charset="-122"/>
                <a:ea typeface="Noto Sans SC" panose="020B0200000000000000" charset="-122"/>
              </a:rPr>
              <a:t>业务闭环</a:t>
            </a:r>
            <a:r>
              <a:rPr lang="zh-CN" sz="2800" b="1" i="0" dirty="0">
                <a:solidFill>
                  <a:srgbClr val="000C3D"/>
                </a:solidFill>
                <a:latin typeface="Noto Sans SC" panose="020B0200000000000000" charset="-122"/>
                <a:ea typeface="Noto Sans SC" panose="020B0200000000000000" charset="-122"/>
              </a:rPr>
              <a:t>演示</a:t>
            </a:r>
          </a:p>
        </p:txBody>
      </p:sp>
      <p:sp>
        <p:nvSpPr>
          <p:cNvPr id="29" name="TextBox 22"/>
          <p:cNvSpPr txBox="1"/>
          <p:nvPr/>
        </p:nvSpPr>
        <p:spPr>
          <a:xfrm>
            <a:off x="4021740" y="1098200"/>
            <a:ext cx="1097565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10632"/>
                </a:solidFill>
                <a:latin typeface="Noto Sans SC" panose="020B0200000000000000" charset="-122"/>
                <a:ea typeface="Noto Sans SC" panose="020B0200000000000000" charset="-122"/>
              </a:rPr>
              <a:t>数据录入</a:t>
            </a:r>
          </a:p>
        </p:txBody>
      </p:sp>
      <p:sp>
        <p:nvSpPr>
          <p:cNvPr id="30" name="TextBox 23"/>
          <p:cNvSpPr txBox="1"/>
          <p:nvPr/>
        </p:nvSpPr>
        <p:spPr>
          <a:xfrm>
            <a:off x="7274210" y="1187100"/>
            <a:ext cx="1068228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633"/>
                </a:solidFill>
                <a:latin typeface="Noto Sans SC" panose="020B0200000000000000" charset="-122"/>
                <a:ea typeface="Noto Sans SC" panose="020B0200000000000000" charset="-122"/>
              </a:rPr>
              <a:t>风险识别</a:t>
            </a:r>
          </a:p>
        </p:txBody>
      </p:sp>
      <p:sp>
        <p:nvSpPr>
          <p:cNvPr id="31" name="TextBox 24"/>
          <p:cNvSpPr txBox="1"/>
          <p:nvPr/>
        </p:nvSpPr>
        <p:spPr>
          <a:xfrm>
            <a:off x="7338060" y="1556385"/>
            <a:ext cx="2955290" cy="2819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 i="0">
                <a:solidFill>
                  <a:srgbClr val="0F1834"/>
                </a:solidFill>
                <a:latin typeface="Noto Sans SC" panose="020B0200000000000000" charset="-122"/>
                <a:ea typeface="Noto Sans SC" panose="020B0200000000000000" charset="-122"/>
              </a:rPr>
              <a:t>规则引擎自动生成慢病风险评估结果</a:t>
            </a:r>
          </a:p>
        </p:txBody>
      </p:sp>
      <p:sp>
        <p:nvSpPr>
          <p:cNvPr id="32" name="TextBox 25"/>
          <p:cNvSpPr txBox="1"/>
          <p:nvPr/>
        </p:nvSpPr>
        <p:spPr>
          <a:xfrm>
            <a:off x="1276921" y="1525206"/>
            <a:ext cx="3789521" cy="192881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 i="0">
                <a:solidFill>
                  <a:srgbClr val="0D1731"/>
                </a:solidFill>
                <a:latin typeface="Noto Sans SC" panose="020B0200000000000000" charset="-122"/>
                <a:ea typeface="Noto Sans SC" panose="020B0200000000000000" charset="-122"/>
              </a:rPr>
              <a:t>患者录入健康数据，医生导入病历与设备数据</a:t>
            </a:r>
          </a:p>
        </p:txBody>
      </p:sp>
      <p:sp>
        <p:nvSpPr>
          <p:cNvPr id="33" name="TextBox 26"/>
          <p:cNvSpPr txBox="1"/>
          <p:nvPr/>
        </p:nvSpPr>
        <p:spPr>
          <a:xfrm>
            <a:off x="2806922" y="2381154"/>
            <a:ext cx="1068228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00" b="1" i="0">
                <a:solidFill>
                  <a:srgbClr val="0D1732"/>
                </a:solidFill>
                <a:latin typeface="Noto Sans SC" panose="020B0200000000000000" charset="-122"/>
                <a:ea typeface="Noto Sans SC" panose="020B0200000000000000" charset="-122"/>
              </a:rPr>
              <a:t>随访反馈</a:t>
            </a:r>
          </a:p>
        </p:txBody>
      </p:sp>
      <p:sp>
        <p:nvSpPr>
          <p:cNvPr id="34" name="TextBox 27"/>
          <p:cNvSpPr txBox="1"/>
          <p:nvPr/>
        </p:nvSpPr>
        <p:spPr>
          <a:xfrm>
            <a:off x="8463343" y="2381154"/>
            <a:ext cx="1068228" cy="289274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20936"/>
                </a:solidFill>
                <a:latin typeface="Noto Sans SC" panose="020B0200000000000000" charset="-122"/>
                <a:ea typeface="Noto Sans SC" panose="020B0200000000000000" charset="-122"/>
              </a:rPr>
              <a:t>结果查看</a:t>
            </a:r>
          </a:p>
        </p:txBody>
      </p:sp>
      <p:sp>
        <p:nvSpPr>
          <p:cNvPr id="35" name="TextBox 28"/>
          <p:cNvSpPr txBox="1"/>
          <p:nvPr/>
        </p:nvSpPr>
        <p:spPr>
          <a:xfrm>
            <a:off x="715645" y="2799080"/>
            <a:ext cx="3261995" cy="34099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 i="0">
                <a:solidFill>
                  <a:srgbClr val="0D1732"/>
                </a:solidFill>
                <a:latin typeface="Noto Sans SC" panose="020B0200000000000000" charset="-122"/>
                <a:ea typeface="Noto Sans SC" panose="020B0200000000000000" charset="-122"/>
              </a:rPr>
              <a:t>随访结果与新数据回流，支撑下一轮评估</a:t>
            </a:r>
          </a:p>
        </p:txBody>
      </p:sp>
      <p:sp>
        <p:nvSpPr>
          <p:cNvPr id="36" name="TextBox 29"/>
          <p:cNvSpPr txBox="1"/>
          <p:nvPr/>
        </p:nvSpPr>
        <p:spPr>
          <a:xfrm>
            <a:off x="8495030" y="2810510"/>
            <a:ext cx="3100070" cy="31242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9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 i="0">
                <a:solidFill>
                  <a:srgbClr val="0D1632"/>
                </a:solidFill>
                <a:latin typeface="Noto Sans SC" panose="020B0200000000000000" charset="-122"/>
                <a:ea typeface="Noto Sans SC" panose="020B0200000000000000" charset="-122"/>
              </a:rPr>
              <a:t>医生查看患者趋势、风险等级与评估详情</a:t>
            </a:r>
          </a:p>
        </p:txBody>
      </p:sp>
      <p:sp>
        <p:nvSpPr>
          <p:cNvPr id="37" name="TextBox 30"/>
          <p:cNvSpPr txBox="1"/>
          <p:nvPr/>
        </p:nvSpPr>
        <p:spPr>
          <a:xfrm>
            <a:off x="4593240" y="3175635"/>
            <a:ext cx="3152013" cy="3535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000835"/>
                </a:solidFill>
                <a:latin typeface="Noto Sans SC" panose="020B0200000000000000" charset="-122"/>
                <a:ea typeface="Noto Sans SC" panose="020B0200000000000000" charset="-122"/>
              </a:rPr>
              <a:t>患者一医生一AI一管理员</a:t>
            </a:r>
          </a:p>
        </p:txBody>
      </p:sp>
      <p:sp>
        <p:nvSpPr>
          <p:cNvPr id="38" name="TextBox 31"/>
          <p:cNvSpPr txBox="1"/>
          <p:nvPr/>
        </p:nvSpPr>
        <p:spPr>
          <a:xfrm>
            <a:off x="5854255" y="3605022"/>
            <a:ext cx="630078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0" i="0">
                <a:solidFill>
                  <a:srgbClr val="000632"/>
                </a:solidFill>
                <a:latin typeface="Noto Sans SC" panose="020B0200000000000000" charset="-122"/>
                <a:ea typeface="Noto Sans SC" panose="020B0200000000000000" charset="-122"/>
              </a:rPr>
              <a:t>协同</a:t>
            </a:r>
            <a:r>
              <a:rPr sz="2400" b="0" i="0">
                <a:solidFill>
                  <a:srgbClr val="000632"/>
                </a:solidFill>
                <a:latin typeface="Noto Sans SC" panose="020B0200000000000000" charset="-122"/>
                <a:ea typeface="Noto Sans SC" panose="020B0200000000000000" charset="-122"/>
              </a:rPr>
              <a:t>闭环</a:t>
            </a:r>
          </a:p>
        </p:txBody>
      </p:sp>
      <p:sp>
        <p:nvSpPr>
          <p:cNvPr id="39" name="TextBox 32"/>
          <p:cNvSpPr txBox="1"/>
          <p:nvPr/>
        </p:nvSpPr>
        <p:spPr>
          <a:xfrm>
            <a:off x="2806255" y="4033647"/>
            <a:ext cx="109899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631"/>
                </a:solidFill>
                <a:latin typeface="Noto Sans SC" panose="020B0200000000000000" charset="-122"/>
                <a:ea typeface="Noto Sans SC" panose="020B0200000000000000" charset="-122"/>
              </a:rPr>
              <a:t>知识推荐</a:t>
            </a:r>
          </a:p>
        </p:txBody>
      </p:sp>
      <p:sp>
        <p:nvSpPr>
          <p:cNvPr id="40" name="TextBox 33"/>
          <p:cNvSpPr txBox="1"/>
          <p:nvPr/>
        </p:nvSpPr>
        <p:spPr>
          <a:xfrm>
            <a:off x="8463343" y="4034409"/>
            <a:ext cx="833818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</a:rPr>
              <a:t>AI辅助</a:t>
            </a:r>
          </a:p>
        </p:txBody>
      </p:sp>
      <p:sp>
        <p:nvSpPr>
          <p:cNvPr id="41" name="TextBox 34"/>
          <p:cNvSpPr txBox="1"/>
          <p:nvPr/>
        </p:nvSpPr>
        <p:spPr>
          <a:xfrm>
            <a:off x="1036320" y="4417695"/>
            <a:ext cx="3007360" cy="4064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>
              <a:lnSpc>
                <a:spcPct val="149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50" b="0" i="0">
                <a:solidFill>
                  <a:srgbClr val="0F1933"/>
                </a:solidFill>
                <a:latin typeface="Noto Sans SC" panose="020B0200000000000000" charset="-122"/>
                <a:ea typeface="Noto Sans SC" panose="020B0200000000000000" charset="-122"/>
              </a:rPr>
              <a:t>推荐宣教视频、知识资料与管理建议</a:t>
            </a:r>
          </a:p>
        </p:txBody>
      </p:sp>
      <p:sp>
        <p:nvSpPr>
          <p:cNvPr id="42" name="TextBox 35"/>
          <p:cNvSpPr txBox="1"/>
          <p:nvPr/>
        </p:nvSpPr>
        <p:spPr>
          <a:xfrm>
            <a:off x="8465820" y="4434840"/>
            <a:ext cx="3406775" cy="33401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300" b="0" i="0">
                <a:solidFill>
                  <a:srgbClr val="0B132D"/>
                </a:solidFill>
                <a:latin typeface="Noto Sans SC" panose="020B0200000000000000" charset="-122"/>
                <a:ea typeface="Noto Sans SC" panose="020B0200000000000000" charset="-122"/>
              </a:rPr>
              <a:t>AI</a:t>
            </a:r>
            <a:r>
              <a:rPr lang="zh-CN" altLang="en-US" sz="1300" b="0" i="0">
                <a:solidFill>
                  <a:srgbClr val="0B132D"/>
                </a:solidFill>
                <a:latin typeface="Noto Sans SC" panose="020B0200000000000000" charset="-122"/>
                <a:ea typeface="Noto Sans SC" panose="020B0200000000000000" charset="-122"/>
              </a:rPr>
              <a:t>结合患者上下文与知识库生成个性化建议</a:t>
            </a:r>
          </a:p>
        </p:txBody>
      </p:sp>
      <p:sp>
        <p:nvSpPr>
          <p:cNvPr id="43" name="TextBox 36"/>
          <p:cNvSpPr txBox="1"/>
          <p:nvPr/>
        </p:nvSpPr>
        <p:spPr>
          <a:xfrm>
            <a:off x="4033520" y="5252402"/>
            <a:ext cx="1098994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0530"/>
                </a:solidFill>
                <a:latin typeface="Noto Sans SC" panose="020B0200000000000000" charset="-122"/>
                <a:ea typeface="Noto Sans SC" panose="020B0200000000000000" charset="-122"/>
              </a:rPr>
              <a:t>报告生成</a:t>
            </a:r>
          </a:p>
        </p:txBody>
      </p:sp>
      <p:sp>
        <p:nvSpPr>
          <p:cNvPr id="44" name="TextBox 37"/>
          <p:cNvSpPr txBox="1"/>
          <p:nvPr/>
        </p:nvSpPr>
        <p:spPr>
          <a:xfrm>
            <a:off x="7377430" y="5278755"/>
            <a:ext cx="1257935" cy="3333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25" b="1" i="0">
                <a:solidFill>
                  <a:srgbClr val="00062F"/>
                </a:solidFill>
                <a:latin typeface="Noto Sans SC" panose="020B0200000000000000" charset="-122"/>
                <a:ea typeface="Noto Sans SC" panose="020B0200000000000000" charset="-122"/>
              </a:rPr>
              <a:t>Harness</a:t>
            </a:r>
            <a:r>
              <a:rPr lang="zh-CN" altLang="en-US" sz="2025" b="1" i="0">
                <a:solidFill>
                  <a:srgbClr val="00062F"/>
                </a:solidFill>
                <a:latin typeface="Noto Sans SC" panose="020B0200000000000000" charset="-122"/>
                <a:ea typeface="Noto Sans SC" panose="020B0200000000000000" charset="-122"/>
              </a:rPr>
              <a:t>追溯</a:t>
            </a:r>
          </a:p>
        </p:txBody>
      </p:sp>
      <p:sp>
        <p:nvSpPr>
          <p:cNvPr id="45" name="TextBox 38"/>
          <p:cNvSpPr txBox="1"/>
          <p:nvPr/>
        </p:nvSpPr>
        <p:spPr>
          <a:xfrm>
            <a:off x="2425700" y="5688330"/>
            <a:ext cx="3079115" cy="37973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9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300" b="0" i="0">
                <a:solidFill>
                  <a:srgbClr val="0D1530"/>
                </a:solidFill>
                <a:latin typeface="Noto Sans SC" panose="020B0200000000000000" charset="-122"/>
                <a:ea typeface="Noto Sans SC" panose="020B0200000000000000" charset="-122"/>
              </a:rPr>
              <a:t>自动生成随访信息、医生报告与健康报告</a:t>
            </a:r>
          </a:p>
        </p:txBody>
      </p:sp>
      <p:sp>
        <p:nvSpPr>
          <p:cNvPr id="46" name="TextBox 39"/>
          <p:cNvSpPr txBox="1"/>
          <p:nvPr/>
        </p:nvSpPr>
        <p:spPr>
          <a:xfrm>
            <a:off x="7459980" y="5723890"/>
            <a:ext cx="3346450" cy="32385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1300" b="0" i="0">
                <a:solidFill>
                  <a:srgbClr val="0F1834"/>
                </a:solidFill>
                <a:latin typeface="Noto Sans SC" panose="020B0200000000000000" charset="-122"/>
                <a:ea typeface="Noto Sans SC" panose="020B0200000000000000" charset="-122"/>
              </a:rPr>
              <a:t>管理员查看执行步骤、工具调用与证据链路</a:t>
            </a:r>
          </a:p>
        </p:txBody>
      </p:sp>
      <p:pic>
        <p:nvPicPr>
          <p:cNvPr id="47" name="Picture 16" descr="image.png"/>
          <p:cNvPicPr>
            <a:picLocks noChangeAspect="1"/>
          </p:cNvPicPr>
          <p:nvPr/>
        </p:nvPicPr>
        <p:blipFill>
          <a:blip r:embed="rId1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168550" y="5258974"/>
            <a:ext cx="421481" cy="421481"/>
          </a:xfrm>
          <a:prstGeom prst="rect">
            <a:avLst/>
          </a:prstGeom>
        </p:spPr>
      </p:pic>
      <p:pic>
        <p:nvPicPr>
          <p:cNvPr id="48" name="Picture 14" descr="image.png"/>
          <p:cNvPicPr>
            <a:picLocks noChangeAspect="1"/>
          </p:cNvPicPr>
          <p:nvPr/>
        </p:nvPicPr>
        <p:blipFill>
          <a:blip r:embed="rId1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998182" y="4076010"/>
            <a:ext cx="417480" cy="431875"/>
          </a:xfrm>
          <a:prstGeom prst="rect">
            <a:avLst/>
          </a:prstGeom>
        </p:spPr>
      </p:pic>
      <p:pic>
        <p:nvPicPr>
          <p:cNvPr id="49" name="图片 48" descr="ChatGPT Image 2026年6月27日 14_13_42"/>
          <p:cNvPicPr>
            <a:picLocks noChangeAspect="1"/>
          </p:cNvPicPr>
          <p:nvPr/>
        </p:nvPicPr>
        <p:blipFill>
          <a:blip r:embed="rId20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043680" y="2536190"/>
            <a:ext cx="409575" cy="409575"/>
          </a:xfrm>
          <a:prstGeom prst="rect">
            <a:avLst/>
          </a:prstGeom>
        </p:spPr>
      </p:pic>
      <p:pic>
        <p:nvPicPr>
          <p:cNvPr id="2" name="图片 1" descr="1"/>
          <p:cNvPicPr>
            <a:picLocks noChangeAspect="1"/>
          </p:cNvPicPr>
          <p:nvPr/>
        </p:nvPicPr>
        <p:blipFill>
          <a:blip r:embed="rId21"/>
          <a:srcRect l="19386"/>
          <a:stretch>
            <a:fillRect/>
          </a:stretch>
        </p:blipFill>
        <p:spPr>
          <a:xfrm>
            <a:off x="0" y="675005"/>
            <a:ext cx="5609590" cy="3380105"/>
          </a:xfrm>
          <a:prstGeom prst="rect">
            <a:avLst/>
          </a:prstGeom>
        </p:spPr>
      </p:pic>
      <p:pic>
        <p:nvPicPr>
          <p:cNvPr id="3" name="图片 2" descr="2"/>
          <p:cNvPicPr>
            <a:picLocks noChangeAspect="1"/>
          </p:cNvPicPr>
          <p:nvPr/>
        </p:nvPicPr>
        <p:blipFill>
          <a:blip r:embed="rId22"/>
          <a:srcRect b="23028"/>
          <a:stretch>
            <a:fillRect/>
          </a:stretch>
        </p:blipFill>
        <p:spPr>
          <a:xfrm>
            <a:off x="3695700" y="721360"/>
            <a:ext cx="4800600" cy="5278755"/>
          </a:xfrm>
          <a:prstGeom prst="rect">
            <a:avLst/>
          </a:prstGeom>
        </p:spPr>
      </p:pic>
      <p:pic>
        <p:nvPicPr>
          <p:cNvPr id="4" name="图片 3" descr="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02855" y="712470"/>
            <a:ext cx="4585335" cy="4384040"/>
          </a:xfrm>
          <a:prstGeom prst="rect">
            <a:avLst/>
          </a:prstGeom>
        </p:spPr>
      </p:pic>
      <p:pic>
        <p:nvPicPr>
          <p:cNvPr id="5" name="图片 4" descr="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87070"/>
            <a:ext cx="12194540" cy="5313680"/>
          </a:xfrm>
          <a:prstGeom prst="rect">
            <a:avLst/>
          </a:prstGeom>
        </p:spPr>
      </p:pic>
      <p:pic>
        <p:nvPicPr>
          <p:cNvPr id="6" name="图片 5" descr="9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5375" y="1288415"/>
            <a:ext cx="10295255" cy="4634865"/>
          </a:xfrm>
          <a:prstGeom prst="rect">
            <a:avLst/>
          </a:prstGeom>
        </p:spPr>
      </p:pic>
      <p:pic>
        <p:nvPicPr>
          <p:cNvPr id="7" name="图片 6" descr="1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21070" y="2994025"/>
            <a:ext cx="6163310" cy="3880485"/>
          </a:xfrm>
          <a:prstGeom prst="rect">
            <a:avLst/>
          </a:prstGeom>
        </p:spPr>
      </p:pic>
      <p:pic>
        <p:nvPicPr>
          <p:cNvPr id="8" name="图片 7" descr="1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45" y="1761490"/>
            <a:ext cx="6563360" cy="4264025"/>
          </a:xfrm>
          <a:prstGeom prst="rect">
            <a:avLst/>
          </a:prstGeom>
        </p:spPr>
      </p:pic>
      <p:pic>
        <p:nvPicPr>
          <p:cNvPr id="10" name="图片 9" descr="15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4690" y="1505585"/>
            <a:ext cx="10955020" cy="3916045"/>
          </a:xfrm>
          <a:prstGeom prst="rect">
            <a:avLst/>
          </a:prstGeom>
        </p:spPr>
      </p:pic>
      <p:pic>
        <p:nvPicPr>
          <p:cNvPr id="18" name="图片 17" descr="1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1372870"/>
            <a:ext cx="6484620" cy="4238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edg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9753600" y="0"/>
            <a:ext cx="2438400" cy="666750"/>
          </a:xfrm>
          <a:prstGeom prst="rect">
            <a:avLst/>
          </a:pr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功能价值</a:t>
            </a:r>
            <a:endParaRPr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Picture 9" descr="image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68070" y="1420939"/>
            <a:ext cx="235883" cy="240601"/>
          </a:xfrm>
          <a:prstGeom prst="rect">
            <a:avLst/>
          </a:prstGeom>
        </p:spPr>
      </p:pic>
      <p:sp>
        <p:nvSpPr>
          <p:cNvPr id="14" name="TextBox 12"/>
          <p:cNvSpPr txBox="1"/>
          <p:nvPr/>
        </p:nvSpPr>
        <p:spPr>
          <a:xfrm>
            <a:off x="2658237" y="1337881"/>
            <a:ext cx="1395031" cy="38576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839"/>
                </a:solidFill>
                <a:latin typeface="Noto Sans SC" panose="020B0200000000000000" charset="-122"/>
                <a:ea typeface="Noto Sans SC" panose="020B0200000000000000" charset="-122"/>
              </a:rPr>
              <a:t>创新价值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7038340" y="1337945"/>
            <a:ext cx="1400175" cy="51244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7940" algn="just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0839"/>
                </a:solidFill>
                <a:latin typeface="Noto Sans SC" panose="020B0200000000000000" charset="-122"/>
                <a:ea typeface="Noto Sans SC" panose="020B0200000000000000" charset="-122"/>
              </a:rPr>
              <a:t>应用价值</a:t>
            </a:r>
            <a:endParaRPr lang="zh-CN" sz="2400" b="1"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2659380" y="2021205"/>
            <a:ext cx="1995170" cy="36957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dirty="0" err="1">
                <a:solidFill>
                  <a:srgbClr val="D69163"/>
                </a:solidFill>
                <a:latin typeface="Noto Sans SC" panose="020B0200000000000000" charset="-122"/>
                <a:ea typeface="Noto Sans SC" panose="020B0200000000000000" charset="-122"/>
              </a:rPr>
              <a:t>技术整合创新</a:t>
            </a:r>
            <a:endParaRPr sz="2400" b="0" i="0" dirty="0">
              <a:solidFill>
                <a:srgbClr val="D6916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2661094" y="2539968"/>
            <a:ext cx="3177397" cy="47063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将规则引擎、大模型、RAG、知识图谱</a:t>
            </a:r>
            <a:r>
              <a:rPr sz="1400" b="0" i="0" dirty="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、</a:t>
            </a:r>
          </a:p>
          <a:p>
            <a:pPr marL="635"/>
            <a:r>
              <a:rPr lang="zh-CN" sz="1400" dirty="0">
                <a:latin typeface="Noto Sans SC" panose="020B0200000000000000" charset="-122"/>
                <a:ea typeface="Noto Sans SC" panose="020B0200000000000000" charset="-122"/>
              </a:rPr>
              <a:t>多智能体、过程治理整合为完整方案</a:t>
            </a:r>
          </a:p>
        </p:txBody>
      </p:sp>
      <p:sp>
        <p:nvSpPr>
          <p:cNvPr id="19" name="TextBox 16"/>
          <p:cNvSpPr txBox="1"/>
          <p:nvPr/>
        </p:nvSpPr>
        <p:spPr>
          <a:xfrm>
            <a:off x="7087362" y="2522950"/>
            <a:ext cx="2853118" cy="469963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帮助基层医生减少重复工作</a:t>
            </a:r>
            <a:r>
              <a:rPr sz="1400" b="0" i="0" dirty="0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,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提高重</a:t>
            </a:r>
            <a:r>
              <a:rPr lang="zh-CN" sz="1400" dirty="0">
                <a:latin typeface="Noto Sans SC" panose="020B0200000000000000" charset="-122"/>
                <a:ea typeface="Noto Sans SC" panose="020B0200000000000000" charset="-122"/>
              </a:rPr>
              <a:t>点患者识别效率</a:t>
            </a:r>
          </a:p>
        </p:txBody>
      </p:sp>
      <p:sp>
        <p:nvSpPr>
          <p:cNvPr id="20" name="TextBox 17"/>
          <p:cNvSpPr txBox="1"/>
          <p:nvPr/>
        </p:nvSpPr>
        <p:spPr>
          <a:xfrm>
            <a:off x="2659380" y="3275965"/>
            <a:ext cx="2136775" cy="48514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400" b="0" i="0" dirty="0" err="1">
                <a:solidFill>
                  <a:srgbClr val="D69163"/>
                </a:solidFill>
                <a:latin typeface="Noto Sans SC" panose="020B0200000000000000" charset="-122"/>
                <a:ea typeface="Noto Sans SC" panose="020B0200000000000000" charset="-122"/>
              </a:rPr>
              <a:t>问题精准匹配</a:t>
            </a:r>
            <a:endParaRPr sz="2400" b="0" i="0" dirty="0">
              <a:solidFill>
                <a:srgbClr val="D6916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" name="TextBox 18"/>
          <p:cNvSpPr txBox="1"/>
          <p:nvPr/>
        </p:nvSpPr>
        <p:spPr>
          <a:xfrm>
            <a:off x="7055834" y="3311683"/>
            <a:ext cx="1421415" cy="3214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 dirty="0" err="1">
                <a:solidFill>
                  <a:srgbClr val="ECD293"/>
                </a:solidFill>
                <a:latin typeface="Noto Sans SC" panose="020B0200000000000000" charset="-122"/>
                <a:ea typeface="Noto Sans SC" panose="020B0200000000000000" charset="-122"/>
              </a:rPr>
              <a:t>持续个性化</a:t>
            </a:r>
            <a:endParaRPr sz="2175" b="1" i="0" dirty="0">
              <a:solidFill>
                <a:srgbClr val="ECD29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2" name="TextBox 19"/>
          <p:cNvSpPr txBox="1"/>
          <p:nvPr/>
        </p:nvSpPr>
        <p:spPr>
          <a:xfrm>
            <a:off x="2661285" y="3764280"/>
            <a:ext cx="3359150" cy="50101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不同技术分别服务不同管理问题,各展所</a:t>
            </a:r>
            <a:r>
              <a:rPr lang="zh-CN" sz="1400">
                <a:latin typeface="Noto Sans SC" panose="020B0200000000000000" charset="-122"/>
                <a:ea typeface="Noto Sans SC" panose="020B0200000000000000" charset="-122"/>
              </a:rPr>
              <a:t>长</a:t>
            </a:r>
          </a:p>
        </p:txBody>
      </p:sp>
      <p:sp>
        <p:nvSpPr>
          <p:cNvPr id="23" name="TextBox 20"/>
          <p:cNvSpPr txBox="1"/>
          <p:nvPr/>
        </p:nvSpPr>
        <p:spPr>
          <a:xfrm>
            <a:off x="7057263" y="3761962"/>
            <a:ext cx="2883407" cy="48691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28575" algn="just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帮助患者获得持续、个性化、易理解</a:t>
            </a:r>
            <a:endParaRPr sz="1400" b="0" i="0" dirty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sz="1400" dirty="0">
                <a:latin typeface="Noto Sans SC" panose="020B0200000000000000" charset="-122"/>
                <a:ea typeface="Noto Sans SC" panose="020B0200000000000000" charset="-122"/>
              </a:rPr>
              <a:t>的健康管理服务</a:t>
            </a:r>
          </a:p>
        </p:txBody>
      </p:sp>
      <p:sp>
        <p:nvSpPr>
          <p:cNvPr id="24" name="TextBox 21"/>
          <p:cNvSpPr txBox="1"/>
          <p:nvPr/>
        </p:nvSpPr>
        <p:spPr>
          <a:xfrm>
            <a:off x="2659380" y="4387215"/>
            <a:ext cx="2080260" cy="44386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400" b="0" i="0" dirty="0" err="1">
                <a:solidFill>
                  <a:srgbClr val="D69163"/>
                </a:solidFill>
                <a:latin typeface="Noto Sans SC" panose="020B0200000000000000" charset="-122"/>
                <a:ea typeface="Noto Sans SC" panose="020B0200000000000000" charset="-122"/>
              </a:rPr>
              <a:t>从问答到闭环</a:t>
            </a:r>
            <a:endParaRPr sz="2400" b="0" i="0" dirty="0">
              <a:solidFill>
                <a:srgbClr val="D6916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5" name="TextBox 22"/>
          <p:cNvSpPr txBox="1"/>
          <p:nvPr/>
        </p:nvSpPr>
        <p:spPr>
          <a:xfrm>
            <a:off x="7056596" y="4445254"/>
            <a:ext cx="1419987" cy="289369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 dirty="0" err="1">
                <a:solidFill>
                  <a:srgbClr val="ECD293"/>
                </a:solidFill>
                <a:latin typeface="Noto Sans SC" panose="020B0200000000000000" charset="-122"/>
                <a:ea typeface="Noto Sans SC" panose="020B0200000000000000" charset="-122"/>
              </a:rPr>
              <a:t>精细化提升</a:t>
            </a:r>
            <a:endParaRPr sz="2175" b="1" i="0" dirty="0">
              <a:solidFill>
                <a:srgbClr val="ECD293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6" name="TextBox 23"/>
          <p:cNvSpPr txBox="1"/>
          <p:nvPr/>
        </p:nvSpPr>
        <p:spPr>
          <a:xfrm>
            <a:off x="2661856" y="4898167"/>
            <a:ext cx="3146202" cy="4698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000221"/>
                </a:solidFill>
                <a:latin typeface="Noto Sans SC" panose="020B0200000000000000" charset="-122"/>
                <a:ea typeface="Noto Sans SC" panose="020B0200000000000000" charset="-122"/>
              </a:rPr>
              <a:t>创新点已从"能回答问题"升级为"能支撑</a:t>
            </a:r>
            <a:endParaRPr sz="1400" b="0" i="0" dirty="0">
              <a:solidFill>
                <a:srgbClr val="000221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155"/>
              </a:spcBef>
            </a:pPr>
            <a:r>
              <a:rPr lang="zh-CN" sz="1400" dirty="0">
                <a:latin typeface="Noto Sans SC" panose="020B0200000000000000" charset="-122"/>
                <a:ea typeface="Noto Sans SC" panose="020B0200000000000000" charset="-122"/>
              </a:rPr>
              <a:t>真实业务闭环"</a:t>
            </a:r>
          </a:p>
        </p:txBody>
      </p:sp>
      <p:sp>
        <p:nvSpPr>
          <p:cNvPr id="27" name="TextBox 24"/>
          <p:cNvSpPr txBox="1"/>
          <p:nvPr/>
        </p:nvSpPr>
        <p:spPr>
          <a:xfrm>
            <a:off x="7058025" y="4889277"/>
            <a:ext cx="2706528" cy="469868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00011F"/>
                </a:solidFill>
                <a:latin typeface="Noto Sans SC" panose="020B0200000000000000" charset="-122"/>
                <a:ea typeface="Noto Sans SC" panose="020B0200000000000000" charset="-122"/>
              </a:rPr>
              <a:t>提升基层慢病管理的连续性与精细</a:t>
            </a:r>
            <a:endParaRPr sz="1400" b="0" i="0" dirty="0">
              <a:solidFill>
                <a:srgbClr val="00011F"/>
              </a:solidFill>
              <a:latin typeface="Noto Sans SC" panose="020B0200000000000000" charset="-122"/>
              <a:ea typeface="Noto Sans SC" panose="020B0200000000000000" charset="-122"/>
            </a:endParaRPr>
          </a:p>
          <a:p>
            <a:pPr>
              <a:spcBef>
                <a:spcPts val="155"/>
              </a:spcBef>
            </a:pPr>
            <a:r>
              <a:rPr lang="zh-CN" sz="1400" dirty="0">
                <a:latin typeface="Noto Sans SC" panose="020B0200000000000000" charset="-122"/>
                <a:ea typeface="Noto Sans SC" panose="020B0200000000000000" charset="-122"/>
              </a:rPr>
              <a:t>化水平</a:t>
            </a:r>
          </a:p>
        </p:txBody>
      </p:sp>
      <p:sp>
        <p:nvSpPr>
          <p:cNvPr id="28" name="TextBox 25"/>
          <p:cNvSpPr txBox="1"/>
          <p:nvPr/>
        </p:nvSpPr>
        <p:spPr>
          <a:xfrm>
            <a:off x="4234957" y="5662040"/>
            <a:ext cx="2980055" cy="42608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b="0" i="0" dirty="0" err="1">
                <a:solidFill>
                  <a:srgbClr val="0F623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</a:rPr>
              <a:t>创新驱动落地</a:t>
            </a:r>
            <a:r>
              <a:rPr lang="zh-CN" b="0" i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</a:rPr>
              <a:t>，</a:t>
            </a:r>
            <a:r>
              <a:rPr b="0" i="0" dirty="0" err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Noto Sans SC" panose="020B0200000000000000" charset="-122"/>
                <a:ea typeface="Noto Sans SC" panose="020B0200000000000000" charset="-122"/>
              </a:rPr>
              <a:t>技术服务管理</a:t>
            </a:r>
            <a:endParaRPr b="0" i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025005" y="2017395"/>
            <a:ext cx="14776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760"/>
              </a:spcBef>
            </a:pPr>
            <a:r>
              <a:rPr sz="2400" b="1" dirty="0" err="1">
                <a:solidFill>
                  <a:srgbClr val="ECD293"/>
                </a:solidFill>
                <a:latin typeface="Noto Sans SC" panose="020B0200000000000000" charset="-122"/>
                <a:ea typeface="Noto Sans SC" panose="020B0200000000000000" charset="-122"/>
                <a:sym typeface="+mn-ea"/>
              </a:rPr>
              <a:t>减负增效</a:t>
            </a:r>
            <a:endParaRPr lang="zh-CN" altLang="en-US" dirty="0">
              <a:solidFill>
                <a:srgbClr val="ECD293"/>
              </a:solidFill>
            </a:endParaRPr>
          </a:p>
        </p:txBody>
      </p:sp>
      <p:pic>
        <p:nvPicPr>
          <p:cNvPr id="30" name="Picture 2" descr="image.png"/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58451" y="2125698"/>
            <a:ext cx="250602" cy="264787"/>
          </a:xfrm>
          <a:prstGeom prst="rect">
            <a:avLst/>
          </a:prstGeom>
        </p:spPr>
      </p:pic>
      <p:pic>
        <p:nvPicPr>
          <p:cNvPr id="31" name="Picture 3" descr="image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52376" y="2127596"/>
            <a:ext cx="252603" cy="257369"/>
          </a:xfrm>
          <a:prstGeom prst="rect">
            <a:avLst/>
          </a:prstGeom>
        </p:spPr>
      </p:pic>
      <p:pic>
        <p:nvPicPr>
          <p:cNvPr id="32" name="Picture 4" descr="image.png"/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58260" y="4486890"/>
            <a:ext cx="256698" cy="251944"/>
          </a:xfrm>
          <a:prstGeom prst="rect">
            <a:avLst/>
          </a:prstGeom>
        </p:spPr>
      </p:pic>
      <p:pic>
        <p:nvPicPr>
          <p:cNvPr id="33" name="Picture 5" descr="image.png"/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61804" y="3370040"/>
            <a:ext cx="248658" cy="258222"/>
          </a:xfrm>
          <a:prstGeom prst="rect">
            <a:avLst/>
          </a:prstGeom>
        </p:spPr>
      </p:pic>
      <p:pic>
        <p:nvPicPr>
          <p:cNvPr id="34" name="Picture 6" descr="image.png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50900" y="4486846"/>
            <a:ext cx="252031" cy="252031"/>
          </a:xfrm>
          <a:prstGeom prst="rect">
            <a:avLst/>
          </a:prstGeom>
        </p:spPr>
      </p:pic>
      <p:pic>
        <p:nvPicPr>
          <p:cNvPr id="35" name="Picture 7" descr="image.png"/>
          <p:cNvPicPr>
            <a:picLocks noChangeAspect="1"/>
          </p:cNvPicPr>
          <p:nvPr/>
        </p:nvPicPr>
        <p:blipFill>
          <a:blip r:embed="rId9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55805" y="3376135"/>
            <a:ext cx="249174" cy="249174"/>
          </a:xfrm>
          <a:prstGeom prst="rect">
            <a:avLst/>
          </a:prstGeom>
        </p:spPr>
      </p:pic>
      <p:pic>
        <p:nvPicPr>
          <p:cNvPr id="36" name="Picture 8" descr="image.png"/>
          <p:cNvPicPr>
            <a:picLocks noChangeAspect="1"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67891" y="1415034"/>
            <a:ext cx="243914" cy="248697"/>
          </a:xfrm>
          <a:prstGeom prst="rect">
            <a:avLst/>
          </a:prstGeom>
        </p:spPr>
      </p:pic>
      <p:sp>
        <p:nvSpPr>
          <p:cNvPr id="2" name="TextBox 11"/>
          <p:cNvSpPr txBox="1"/>
          <p:nvPr/>
        </p:nvSpPr>
        <p:spPr>
          <a:xfrm>
            <a:off x="316865" y="855980"/>
            <a:ext cx="1809750" cy="56578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just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834"/>
                </a:solidFill>
                <a:latin typeface="Noto Sans SC" panose="020B0200000000000000" charset="-122"/>
                <a:ea typeface="Noto Sans SC" panose="020B0200000000000000" charset="-122"/>
              </a:rPr>
              <a:t>项目价值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02935">
            <a:off x="5848663" y="1887217"/>
            <a:ext cx="4771117" cy="2683754"/>
          </a:xfrm>
          <a:prstGeom prst="rect">
            <a:avLst/>
          </a:prstGeom>
          <a:ln w="190500" cap="sq">
            <a:solidFill>
              <a:srgbClr val="FFFFFF"/>
            </a:solidFill>
            <a:miter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</p:spPr>
      </p:pic>
      <p:sp>
        <p:nvSpPr>
          <p:cNvPr id="5" name="标题 1"/>
          <p:cNvSpPr>
            <a:spLocks noGrp="1"/>
          </p:cNvSpPr>
          <p:nvPr/>
        </p:nvSpPr>
        <p:spPr>
          <a:xfrm>
            <a:off x="694550" y="2388754"/>
            <a:ext cx="5134992" cy="71998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buNone/>
              <a:defRPr sz="3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algn="ctr">
              <a:defRPr sz="2250" b="1">
                <a:solidFill>
                  <a:srgbClr val="1722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400" b="1" dirty="0" err="1">
                <a:solidFill>
                  <a:srgbClr val="1722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4400" b="1" dirty="0">
              <a:solidFill>
                <a:srgbClr val="1722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2400272" y="4038510"/>
            <a:ext cx="17235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75" b="0">
                <a:solidFill>
                  <a:srgbClr val="1722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 dirty="0" err="1">
                <a:solidFill>
                  <a:srgbClr val="1722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欢迎批评指正</a:t>
            </a:r>
            <a:endParaRPr sz="2000" b="0" dirty="0">
              <a:solidFill>
                <a:srgbClr val="1722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25"/>
          <p:cNvSpPr>
            <a:spLocks noGrp="1"/>
          </p:cNvSpPr>
          <p:nvPr/>
        </p:nvSpPr>
        <p:spPr>
          <a:xfrm rot="10800000">
            <a:off x="3262047" y="1130497"/>
            <a:ext cx="8258441" cy="4597885"/>
          </a:xfrm>
          <a:custGeom>
            <a:avLst/>
            <a:gdLst/>
            <a:ahLst/>
            <a:cxnLst/>
            <a:rect l="l" t="t" r="r" b="b"/>
            <a:pathLst>
              <a:path w="6833319" h="4508626">
                <a:moveTo>
                  <a:pt x="6762786" y="1876457"/>
                </a:moveTo>
                <a:lnTo>
                  <a:pt x="6826313" y="1876457"/>
                </a:lnTo>
                <a:lnTo>
                  <a:pt x="6826313" y="2476058"/>
                </a:lnTo>
                <a:lnTo>
                  <a:pt x="6762786" y="2476058"/>
                </a:lnTo>
                <a:lnTo>
                  <a:pt x="6762786" y="1876457"/>
                </a:lnTo>
                <a:close/>
                <a:moveTo>
                  <a:pt x="0" y="0"/>
                </a:moveTo>
                <a:lnTo>
                  <a:pt x="6826313" y="0"/>
                </a:lnTo>
                <a:lnTo>
                  <a:pt x="6826313" y="959382"/>
                </a:lnTo>
                <a:lnTo>
                  <a:pt x="6762786" y="959382"/>
                </a:lnTo>
                <a:lnTo>
                  <a:pt x="6762786" y="63527"/>
                </a:lnTo>
                <a:lnTo>
                  <a:pt x="63527" y="63527"/>
                </a:lnTo>
                <a:lnTo>
                  <a:pt x="63527" y="4445099"/>
                </a:lnTo>
                <a:lnTo>
                  <a:pt x="6762786" y="4445099"/>
                </a:lnTo>
                <a:lnTo>
                  <a:pt x="6762786" y="3403147"/>
                </a:lnTo>
                <a:lnTo>
                  <a:pt x="6833319" y="3394844"/>
                </a:lnTo>
                <a:cubicBezTo>
                  <a:pt x="6832151" y="3759185"/>
                  <a:pt x="6827481" y="4144285"/>
                  <a:pt x="6826313" y="4508626"/>
                </a:cubicBezTo>
                <a:lnTo>
                  <a:pt x="0" y="450862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C42459"/>
              </a:gs>
              <a:gs pos="100000">
                <a:srgbClr val="F7BA2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972042" y="4750945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E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作品编号：2026046605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400272" y="4972265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E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作品名称：医智联</a:t>
            </a:r>
            <a:r>
              <a:rPr sz="105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sz="1050" b="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基于多智能体协作的慢性病智慧管理平台</a:t>
            </a:r>
            <a:endParaRPr sz="105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25792" y="5235039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E6A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2026年中国大学生计算机设计大赛 · 人工智能实践赛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202.09889763779526,&quot;top&quot;:59.247874015748025,&quot;width&quot;:587.77377952755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40.3242519685039,&quot;left&quot;:79.5472440944882,&quot;top&quot;:59.247874015748025,&quot;width&quot;:810.562755905511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1.25897637795276,&quot;left&quot;:300.3196062992126,&quot;top&quot;:65.8811811023622,&quot;width&quot;:652.721338582677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5185039370079,&quot;left&quot;:82.40244094488189,&quot;top&quot;:124.94622047244096,&quot;width&quot;:793.5825196850394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5185039370079,&quot;left&quot;:82.40244094488189,&quot;top&quot;:124.94622047244096,&quot;width&quot;:793.5825196850394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5185039370079,&quot;left&quot;:82.40244094488189,&quot;top&quot;:124.94622047244096,&quot;width&quot;:793.5825196850394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12047244094487,&quot;left&quot;:82.40244094488189,&quot;top&quot;:123.34425196850393,&quot;width&quot;:793.5825196850394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12047244094487,&quot;left&quot;:82.40244094488189,&quot;top&quot;:123.34425196850393,&quot;width&quot;:793.5825196850394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12047244094487,&quot;left&quot;:82.40244094488189,&quot;top&quot;:123.34425196850393,&quot;width&quot;:793.5825196850394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12047244094487,&quot;left&quot;:82.40244094488189,&quot;top&quot;:123.34425196850393,&quot;width&quot;:793.5825196850394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12047244094487,&quot;left&quot;:82.40244094488189,&quot;top&quot;:123.34425196850393,&quot;width&quot;:793.5825196850394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.12047244094487,&quot;left&quot;:82.40244094488189,&quot;top&quot;:123.34425196850393,&quot;width&quot;:793.5825196850394}"/>
</p:tagLst>
</file>

<file path=ppt/theme/theme1.xml><?xml version="1.0" encoding="utf-8"?>
<a:theme xmlns:a="http://schemas.openxmlformats.org/drawingml/2006/main" name="Office Theme">
  <a:themeElements>
    <a:clrScheme name="中山绿色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00582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中山绿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中山绿色">
      <a:dk1>
        <a:sysClr val="windowText" lastClr="000000"/>
      </a:dk1>
      <a:lt1>
        <a:sysClr val="window" lastClr="FFFFFF"/>
      </a:lt1>
      <a:dk2>
        <a:srgbClr val="44546A"/>
      </a:dk2>
      <a:lt2>
        <a:srgbClr val="FFFFFF"/>
      </a:lt2>
      <a:accent1>
        <a:srgbClr val="00582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中山绿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1044</Words>
  <Application>Microsoft Office PowerPoint</Application>
  <PresentationFormat>宽屏</PresentationFormat>
  <Paragraphs>236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Noto Sans SC</vt:lpstr>
      <vt:lpstr>等线</vt:lpstr>
      <vt:lpstr>方正小标宋简体</vt:lpstr>
      <vt:lpstr>微软雅黑</vt:lpstr>
      <vt:lpstr>Calibri</vt:lpstr>
      <vt:lpstr>Calibri Light</vt:lpstr>
      <vt:lpstr>Roboto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Tristan Wanda</cp:lastModifiedBy>
  <cp:revision>54</cp:revision>
  <dcterms:created xsi:type="dcterms:W3CDTF">2026-06-27T14:48:00Z</dcterms:created>
  <dcterms:modified xsi:type="dcterms:W3CDTF">2026-07-21T09:43:25Z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F6328C6DB9DD44548E897E52BA7DE42E_12</vt:lpwstr>
  </property>
</Properties>
</file>